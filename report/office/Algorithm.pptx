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60" r:id="rId3"/>
    <p:sldId id="261" r:id="rId4"/>
    <p:sldId id="262" r:id="rId5"/>
    <p:sldId id="263" r:id="rId6"/>
    <p:sldId id="264" r:id="rId7"/>
    <p:sldId id="267" r:id="rId8"/>
    <p:sldId id="265" r:id="rId9"/>
    <p:sldId id="270" r:id="rId10"/>
    <p:sldId id="266" r:id="rId11"/>
    <p:sldId id="257" r:id="rId12"/>
    <p:sldId id="259" r:id="rId13"/>
    <p:sldId id="268" r:id="rId14"/>
    <p:sldId id="272" r:id="rId15"/>
    <p:sldId id="277" r:id="rId16"/>
    <p:sldId id="278" r:id="rId17"/>
    <p:sldId id="273" r:id="rId18"/>
    <p:sldId id="274" r:id="rId19"/>
    <p:sldId id="275" r:id="rId20"/>
    <p:sldId id="276" r:id="rId21"/>
    <p:sldId id="269" r:id="rId22"/>
    <p:sldId id="271"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6279" autoAdjust="0"/>
  </p:normalViewPr>
  <p:slideViewPr>
    <p:cSldViewPr snapToGrid="0">
      <p:cViewPr varScale="1">
        <p:scale>
          <a:sx n="106" d="100"/>
          <a:sy n="106" d="100"/>
        </p:scale>
        <p:origin x="732"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028E4-0D91-47C6-89A1-18BFD5B08F93}" type="datetimeFigureOut">
              <a:rPr lang="en-US" smtClean="0"/>
              <a:t>5/24/2025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1D0AE7-02E7-4ECD-8A34-B5A5CCDA1321}" type="slidenum">
              <a:rPr lang="en-US" smtClean="0"/>
              <a:t>‹#›</a:t>
            </a:fld>
            <a:endParaRPr lang="en-US"/>
          </a:p>
        </p:txBody>
      </p:sp>
    </p:spTree>
    <p:extLst>
      <p:ext uri="{BB962C8B-B14F-4D97-AF65-F5344CB8AC3E}">
        <p14:creationId xmlns:p14="http://schemas.microsoft.com/office/powerpoint/2010/main" val="386577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vi-VN" b="1" dirty="0"/>
              <a:t>Giá trị K[i, j]</a:t>
            </a:r>
            <a:r>
              <a:rPr lang="vi-VN" dirty="0"/>
              <a:t>: Gần 1: Nếu x_i và x_j rất gần nhau (khoảng cách Euclidean nhỏ), tức là hai mẫu này rất giống nhau.</a:t>
            </a:r>
          </a:p>
          <a:p>
            <a:pPr>
              <a:buFont typeface="Arial" panose="020B0604020202020204" pitchFamily="34" charset="0"/>
              <a:buChar char="•"/>
            </a:pPr>
            <a:r>
              <a:rPr lang="vi-VN" dirty="0"/>
              <a:t>Gần 0: Nếu x_i và x_j xa nhau (khoảng cách Euclidean lớn), tức là hai mẫu này khác biệt.</a:t>
            </a:r>
          </a:p>
          <a:p>
            <a:pPr>
              <a:buFont typeface="Arial" panose="020B0604020202020204" pitchFamily="34" charset="0"/>
              <a:buChar char="•"/>
            </a:pPr>
            <a:r>
              <a:rPr lang="vi-VN" dirty="0"/>
              <a:t>Bằng 1: Trên đường chéo chính (K[i, i]), vì mỗi mẫu luôn giống hệt chính nó.</a:t>
            </a:r>
          </a:p>
          <a:p>
            <a:endParaRPr lang="en-US" dirty="0"/>
          </a:p>
        </p:txBody>
      </p:sp>
      <p:sp>
        <p:nvSpPr>
          <p:cNvPr id="4" name="Slide Number Placeholder 3"/>
          <p:cNvSpPr>
            <a:spLocks noGrp="1"/>
          </p:cNvSpPr>
          <p:nvPr>
            <p:ph type="sldNum" sz="quarter" idx="5"/>
          </p:nvPr>
        </p:nvSpPr>
        <p:spPr/>
        <p:txBody>
          <a:bodyPr/>
          <a:lstStyle/>
          <a:p>
            <a:fld id="{AA1D0AE7-02E7-4ECD-8A34-B5A5CCDA1321}" type="slidenum">
              <a:rPr lang="en-US" smtClean="0"/>
              <a:t>13</a:t>
            </a:fld>
            <a:endParaRPr lang="en-US"/>
          </a:p>
        </p:txBody>
      </p:sp>
    </p:spTree>
    <p:extLst>
      <p:ext uri="{BB962C8B-B14F-4D97-AF65-F5344CB8AC3E}">
        <p14:creationId xmlns:p14="http://schemas.microsoft.com/office/powerpoint/2010/main" val="20363071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B15B1-5F81-B40E-5ED6-3994E2D61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35002F-0A87-7FA0-E71B-ACDBF9F6F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D60E22-7BAD-ED03-ACCA-C4AE1B69BE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DAC7E8-A1A4-1DAD-0B62-647F326379BE}"/>
              </a:ext>
            </a:extLst>
          </p:cNvPr>
          <p:cNvSpPr>
            <a:spLocks noGrp="1"/>
          </p:cNvSpPr>
          <p:nvPr>
            <p:ph type="sldNum" sz="quarter" idx="5"/>
          </p:nvPr>
        </p:nvSpPr>
        <p:spPr/>
        <p:txBody>
          <a:bodyPr/>
          <a:lstStyle/>
          <a:p>
            <a:fld id="{AA1D0AE7-02E7-4ECD-8A34-B5A5CCDA1321}" type="slidenum">
              <a:rPr lang="en-US" smtClean="0"/>
              <a:t>14</a:t>
            </a:fld>
            <a:endParaRPr lang="en-US"/>
          </a:p>
        </p:txBody>
      </p:sp>
    </p:spTree>
    <p:extLst>
      <p:ext uri="{BB962C8B-B14F-4D97-AF65-F5344CB8AC3E}">
        <p14:creationId xmlns:p14="http://schemas.microsoft.com/office/powerpoint/2010/main" val="2596095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FC084-F033-7632-44B5-EF81187CF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F25DC0-5493-BB3A-31EA-D25E85C230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FA9CF9-4CC3-7C48-AF6D-83EB541F06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616D59-3801-9030-3B7D-E1DBE175020D}"/>
              </a:ext>
            </a:extLst>
          </p:cNvPr>
          <p:cNvSpPr>
            <a:spLocks noGrp="1"/>
          </p:cNvSpPr>
          <p:nvPr>
            <p:ph type="sldNum" sz="quarter" idx="5"/>
          </p:nvPr>
        </p:nvSpPr>
        <p:spPr/>
        <p:txBody>
          <a:bodyPr/>
          <a:lstStyle/>
          <a:p>
            <a:fld id="{AA1D0AE7-02E7-4ECD-8A34-B5A5CCDA1321}" type="slidenum">
              <a:rPr lang="en-US" smtClean="0"/>
              <a:t>15</a:t>
            </a:fld>
            <a:endParaRPr lang="en-US"/>
          </a:p>
        </p:txBody>
      </p:sp>
    </p:spTree>
    <p:extLst>
      <p:ext uri="{BB962C8B-B14F-4D97-AF65-F5344CB8AC3E}">
        <p14:creationId xmlns:p14="http://schemas.microsoft.com/office/powerpoint/2010/main" val="4090656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E222A-9D52-1DF1-216B-E9DB7BD97D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99B00C-7A00-2769-46D3-108694963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3FA8D9-83F3-FF37-71DB-6A2AFC9BCC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A674E2D-A6CA-F96E-752F-BC3DF1FA37E6}"/>
              </a:ext>
            </a:extLst>
          </p:cNvPr>
          <p:cNvSpPr>
            <a:spLocks noGrp="1"/>
          </p:cNvSpPr>
          <p:nvPr>
            <p:ph type="sldNum" sz="quarter" idx="5"/>
          </p:nvPr>
        </p:nvSpPr>
        <p:spPr/>
        <p:txBody>
          <a:bodyPr/>
          <a:lstStyle/>
          <a:p>
            <a:fld id="{AA1D0AE7-02E7-4ECD-8A34-B5A5CCDA1321}" type="slidenum">
              <a:rPr lang="en-US" smtClean="0"/>
              <a:t>16</a:t>
            </a:fld>
            <a:endParaRPr lang="en-US"/>
          </a:p>
        </p:txBody>
      </p:sp>
    </p:spTree>
    <p:extLst>
      <p:ext uri="{BB962C8B-B14F-4D97-AF65-F5344CB8AC3E}">
        <p14:creationId xmlns:p14="http://schemas.microsoft.com/office/powerpoint/2010/main" val="3919977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73E827-E774-EC46-4F00-F785562D8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B40543-1503-C3E1-D475-084AAE6E63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B13D55-2A4E-BA21-3D7D-0AD90EE8C2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F7DB65-53BC-FC3B-E308-BE8AC35D590D}"/>
              </a:ext>
            </a:extLst>
          </p:cNvPr>
          <p:cNvSpPr>
            <a:spLocks noGrp="1"/>
          </p:cNvSpPr>
          <p:nvPr>
            <p:ph type="sldNum" sz="quarter" idx="5"/>
          </p:nvPr>
        </p:nvSpPr>
        <p:spPr/>
        <p:txBody>
          <a:bodyPr/>
          <a:lstStyle/>
          <a:p>
            <a:fld id="{AA1D0AE7-02E7-4ECD-8A34-B5A5CCDA1321}" type="slidenum">
              <a:rPr lang="en-US" smtClean="0"/>
              <a:t>17</a:t>
            </a:fld>
            <a:endParaRPr lang="en-US"/>
          </a:p>
        </p:txBody>
      </p:sp>
    </p:spTree>
    <p:extLst>
      <p:ext uri="{BB962C8B-B14F-4D97-AF65-F5344CB8AC3E}">
        <p14:creationId xmlns:p14="http://schemas.microsoft.com/office/powerpoint/2010/main" val="3410174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5DF3B-5C60-67DB-BF7B-977DADF03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E53952-903F-8E85-6281-DB8121C645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044CE-680D-8768-5A33-0315EF3E6C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E1E1A5-1D3A-8967-2FB8-703F8875798D}"/>
              </a:ext>
            </a:extLst>
          </p:cNvPr>
          <p:cNvSpPr>
            <a:spLocks noGrp="1"/>
          </p:cNvSpPr>
          <p:nvPr>
            <p:ph type="sldNum" sz="quarter" idx="5"/>
          </p:nvPr>
        </p:nvSpPr>
        <p:spPr/>
        <p:txBody>
          <a:bodyPr/>
          <a:lstStyle/>
          <a:p>
            <a:fld id="{AA1D0AE7-02E7-4ECD-8A34-B5A5CCDA1321}" type="slidenum">
              <a:rPr lang="en-US" smtClean="0"/>
              <a:t>18</a:t>
            </a:fld>
            <a:endParaRPr lang="en-US"/>
          </a:p>
        </p:txBody>
      </p:sp>
    </p:spTree>
    <p:extLst>
      <p:ext uri="{BB962C8B-B14F-4D97-AF65-F5344CB8AC3E}">
        <p14:creationId xmlns:p14="http://schemas.microsoft.com/office/powerpoint/2010/main" val="28319880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7D0A-7A12-B7E0-1CAB-D331BB5E2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A5A0F6-1F13-88B3-2105-A064DBCCAD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A899C-58D1-D579-3277-5A111F166F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2753EF-3E22-EDB2-144D-A0DADCFFC245}"/>
              </a:ext>
            </a:extLst>
          </p:cNvPr>
          <p:cNvSpPr>
            <a:spLocks noGrp="1"/>
          </p:cNvSpPr>
          <p:nvPr>
            <p:ph type="sldNum" sz="quarter" idx="5"/>
          </p:nvPr>
        </p:nvSpPr>
        <p:spPr/>
        <p:txBody>
          <a:bodyPr/>
          <a:lstStyle/>
          <a:p>
            <a:fld id="{AA1D0AE7-02E7-4ECD-8A34-B5A5CCDA1321}" type="slidenum">
              <a:rPr lang="en-US" smtClean="0"/>
              <a:t>19</a:t>
            </a:fld>
            <a:endParaRPr lang="en-US"/>
          </a:p>
        </p:txBody>
      </p:sp>
    </p:spTree>
    <p:extLst>
      <p:ext uri="{BB962C8B-B14F-4D97-AF65-F5344CB8AC3E}">
        <p14:creationId xmlns:p14="http://schemas.microsoft.com/office/powerpoint/2010/main" val="1122915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432D2-3A26-C6DA-75F7-E62ACDEC20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DE55F-914B-45AC-03D2-243353C5A1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0534E0-1237-A66A-FDF6-5047FA782E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1B4C60-ED71-EEC4-3C6D-615D7C31759E}"/>
              </a:ext>
            </a:extLst>
          </p:cNvPr>
          <p:cNvSpPr>
            <a:spLocks noGrp="1"/>
          </p:cNvSpPr>
          <p:nvPr>
            <p:ph type="sldNum" sz="quarter" idx="5"/>
          </p:nvPr>
        </p:nvSpPr>
        <p:spPr/>
        <p:txBody>
          <a:bodyPr/>
          <a:lstStyle/>
          <a:p>
            <a:fld id="{AA1D0AE7-02E7-4ECD-8A34-B5A5CCDA1321}" type="slidenum">
              <a:rPr lang="en-US" smtClean="0"/>
              <a:t>20</a:t>
            </a:fld>
            <a:endParaRPr lang="en-US"/>
          </a:p>
        </p:txBody>
      </p:sp>
    </p:spTree>
    <p:extLst>
      <p:ext uri="{BB962C8B-B14F-4D97-AF65-F5344CB8AC3E}">
        <p14:creationId xmlns:p14="http://schemas.microsoft.com/office/powerpoint/2010/main" val="811087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vi-VN" b="1" dirty="0"/>
              <a:t>Sự Tương Đồng Giữa Cộng Chéo và MMD:</a:t>
            </a:r>
          </a:p>
          <a:p>
            <a:pPr>
              <a:buNone/>
            </a:pPr>
            <a:r>
              <a:rPr lang="vi-VN" dirty="0"/>
              <a:t>Cái </a:t>
            </a:r>
            <a:r>
              <a:rPr lang="vi-VN" b="1" dirty="0"/>
              <a:t>cộng chéo</a:t>
            </a:r>
            <a:r>
              <a:rPr lang="vi-VN" dirty="0"/>
              <a:t> mà bạn thấy trong công thức np.einsum có thể được giải thích như sau:</a:t>
            </a:r>
          </a:p>
          <a:p>
            <a:pPr>
              <a:buFont typeface="Arial" panose="020B0604020202020204" pitchFamily="34" charset="0"/>
              <a:buChar char="•"/>
            </a:pPr>
            <a:r>
              <a:rPr lang="vi-VN" b="1" dirty="0"/>
              <a:t>Kết quả nhân ma trận W×KW \times KW×K</a:t>
            </a:r>
            <a:r>
              <a:rPr lang="vi-VN" dirty="0"/>
              <a:t> chính là một dạng tính toán về </a:t>
            </a:r>
            <a:r>
              <a:rPr lang="vi-VN" b="1" dirty="0"/>
              <a:t>khoảng cách giữa các điểm</a:t>
            </a:r>
            <a:r>
              <a:rPr lang="vi-VN" dirty="0"/>
              <a:t> trong không gian đặc trưng mà kernel định nghĩa.</a:t>
            </a:r>
          </a:p>
          <a:p>
            <a:pPr>
              <a:buFont typeface="Arial" panose="020B0604020202020204" pitchFamily="34" charset="0"/>
              <a:buChar char="•"/>
            </a:pPr>
            <a:r>
              <a:rPr lang="vi-VN" dirty="0"/>
              <a:t>Sau khi nhân với chính WWW, ta thực chất đang tính toán sự </a:t>
            </a:r>
            <a:r>
              <a:rPr lang="vi-VN" b="1" dirty="0"/>
              <a:t>tương tác giữa các điểm trong cùng nhóm</a:t>
            </a:r>
            <a:r>
              <a:rPr lang="vi-VN" dirty="0"/>
              <a:t> (vì W có giá trị +1 hoặc -1 cho mỗi nhóm).</a:t>
            </a:r>
          </a:p>
          <a:p>
            <a:pPr>
              <a:buFont typeface="Arial" panose="020B0604020202020204" pitchFamily="34" charset="0"/>
              <a:buChar char="•"/>
            </a:pPr>
            <a:r>
              <a:rPr lang="vi-VN" b="1" dirty="0"/>
              <a:t>Sự cộng chéo</a:t>
            </a:r>
            <a:r>
              <a:rPr lang="vi-VN" dirty="0"/>
              <a:t> này là sự tương tác </a:t>
            </a:r>
            <a:r>
              <a:rPr lang="vi-VN" b="1" dirty="0"/>
              <a:t>element-wise</a:t>
            </a:r>
            <a:r>
              <a:rPr lang="vi-VN" dirty="0"/>
              <a:t> giữa các cặp điểm từ cùng một nhóm, do đó, có sự tương tự với việc tính toán </a:t>
            </a:r>
            <a:r>
              <a:rPr lang="vi-VN" b="1" dirty="0"/>
              <a:t>khoảng cách giữa các điểm từ cùng phân phối</a:t>
            </a:r>
            <a:r>
              <a:rPr lang="vi-VN" dirty="0"/>
              <a:t> trong MMD.</a:t>
            </a:r>
          </a:p>
          <a:p>
            <a:endParaRPr lang="en-US" dirty="0"/>
          </a:p>
        </p:txBody>
      </p:sp>
      <p:sp>
        <p:nvSpPr>
          <p:cNvPr id="4" name="Slide Number Placeholder 3"/>
          <p:cNvSpPr>
            <a:spLocks noGrp="1"/>
          </p:cNvSpPr>
          <p:nvPr>
            <p:ph type="sldNum" sz="quarter" idx="5"/>
          </p:nvPr>
        </p:nvSpPr>
        <p:spPr/>
        <p:txBody>
          <a:bodyPr/>
          <a:lstStyle/>
          <a:p>
            <a:fld id="{AA1D0AE7-02E7-4ECD-8A34-B5A5CCDA1321}" type="slidenum">
              <a:rPr lang="en-US" smtClean="0"/>
              <a:t>21</a:t>
            </a:fld>
            <a:endParaRPr lang="en-US"/>
          </a:p>
        </p:txBody>
      </p:sp>
    </p:spTree>
    <p:extLst>
      <p:ext uri="{BB962C8B-B14F-4D97-AF65-F5344CB8AC3E}">
        <p14:creationId xmlns:p14="http://schemas.microsoft.com/office/powerpoint/2010/main" val="16860393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69C6F-4739-22C9-1B41-C4A863490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5D59B-EC9C-7B03-D334-B7E64353FA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5A1B5A-E416-F326-041D-5E93436D74CF}"/>
              </a:ext>
            </a:extLst>
          </p:cNvPr>
          <p:cNvSpPr>
            <a:spLocks noGrp="1"/>
          </p:cNvSpPr>
          <p:nvPr>
            <p:ph type="body" idx="1"/>
          </p:nvPr>
        </p:nvSpPr>
        <p:spPr/>
        <p:txBody>
          <a:bodyPr/>
          <a:lstStyle/>
          <a:p>
            <a:pPr>
              <a:buNone/>
            </a:pPr>
            <a:r>
              <a:rPr lang="vi-VN" dirty="0"/>
              <a:t>w có thể được hiểu là một </a:t>
            </a:r>
            <a:r>
              <a:rPr lang="vi-VN" b="1" dirty="0"/>
              <a:t>kernel</a:t>
            </a:r>
            <a:r>
              <a:rPr lang="vi-VN" dirty="0"/>
              <a:t> có vai trò như một bộ lọc hoặc cửa sổ. Nếu w chứa các giá trị như [0.5, 0.5, -0.5, -0.5], nó có thể giúp tạo ra sự khác biệt giữa các nhóm dữ liệu theo cách mà sự thay đổi mạnh mẽ trong stat sẽ bị làm mượt hoặc ổn định khi áp dụng.</a:t>
            </a:r>
          </a:p>
          <a:p>
            <a:pPr>
              <a:buFont typeface="Arial" panose="020B0604020202020204" pitchFamily="34" charset="0"/>
              <a:buChar char="•"/>
            </a:pPr>
            <a:r>
              <a:rPr lang="vi-VN" b="1" dirty="0"/>
              <a:t>Cửa sổ (Windowing):</a:t>
            </a:r>
            <a:r>
              <a:rPr lang="vi-VN" dirty="0"/>
              <a:t> w có thể là một </a:t>
            </a:r>
            <a:r>
              <a:rPr lang="vi-VN" b="1" dirty="0"/>
              <a:t>cửa sổ trượt</a:t>
            </a:r>
            <a:r>
              <a:rPr lang="vi-VN" dirty="0"/>
              <a:t> giúp kiểm tra các phần của dữ liệu. Việc chập stat với w giúp tính toán một giá trị trung bình có trọng số của các giá trị xung quanh, loại bỏ những thay đổi đột ngột không đáng kể.</a:t>
            </a:r>
          </a:p>
          <a:p>
            <a:pPr>
              <a:buFont typeface="Arial" panose="020B0604020202020204" pitchFamily="34" charset="0"/>
              <a:buChar char="•"/>
            </a:pPr>
            <a:r>
              <a:rPr lang="vi-VN" b="1" dirty="0"/>
              <a:t>Phân tích chuỗi thời gian (Time series analysis):</a:t>
            </a:r>
            <a:r>
              <a:rPr lang="vi-VN" dirty="0"/>
              <a:t> Trong các bài toán chuỗi thời gian, việc </a:t>
            </a:r>
            <a:r>
              <a:rPr lang="vi-VN" b="1" dirty="0"/>
              <a:t>chập (smoothing)</a:t>
            </a:r>
            <a:r>
              <a:rPr lang="vi-VN" dirty="0"/>
              <a:t> với một kernel có thể giúp giảm sự biến động ngẫu nhiên và làm nổi bật các xu hướng chính.</a:t>
            </a:r>
          </a:p>
          <a:p>
            <a:endParaRPr lang="en-US" dirty="0"/>
          </a:p>
        </p:txBody>
      </p:sp>
      <p:sp>
        <p:nvSpPr>
          <p:cNvPr id="4" name="Slide Number Placeholder 3">
            <a:extLst>
              <a:ext uri="{FF2B5EF4-FFF2-40B4-BE49-F238E27FC236}">
                <a16:creationId xmlns:a16="http://schemas.microsoft.com/office/drawing/2014/main" id="{A94C80D8-DE8C-1E3B-D950-A93A098F967D}"/>
              </a:ext>
            </a:extLst>
          </p:cNvPr>
          <p:cNvSpPr>
            <a:spLocks noGrp="1"/>
          </p:cNvSpPr>
          <p:nvPr>
            <p:ph type="sldNum" sz="quarter" idx="5"/>
          </p:nvPr>
        </p:nvSpPr>
        <p:spPr/>
        <p:txBody>
          <a:bodyPr/>
          <a:lstStyle/>
          <a:p>
            <a:fld id="{AA1D0AE7-02E7-4ECD-8A34-B5A5CCDA1321}" type="slidenum">
              <a:rPr lang="en-US" smtClean="0"/>
              <a:t>22</a:t>
            </a:fld>
            <a:endParaRPr lang="en-US"/>
          </a:p>
        </p:txBody>
      </p:sp>
    </p:spTree>
    <p:extLst>
      <p:ext uri="{BB962C8B-B14F-4D97-AF65-F5344CB8AC3E}">
        <p14:creationId xmlns:p14="http://schemas.microsoft.com/office/powerpoint/2010/main" val="1643173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7179-21AD-FAEE-64E8-79C3D12771D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CA050DD-9363-BA6D-3002-F880FB4A37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7F8D205-5F7B-85F6-7733-0561B231674F}"/>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5" name="Footer Placeholder 4">
            <a:extLst>
              <a:ext uri="{FF2B5EF4-FFF2-40B4-BE49-F238E27FC236}">
                <a16:creationId xmlns:a16="http://schemas.microsoft.com/office/drawing/2014/main" id="{772130AB-3D6D-09DB-204D-B851C3BB4C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0BF6CB-B909-7E02-F9D7-EE0940C889A8}"/>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902315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165D5-02C4-512D-AF11-2A6762957D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7D0D10-6ED6-F346-27AE-6DF60FAECA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0CFC8E-1C54-DFC6-F521-5FE987D2783C}"/>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5" name="Footer Placeholder 4">
            <a:extLst>
              <a:ext uri="{FF2B5EF4-FFF2-40B4-BE49-F238E27FC236}">
                <a16:creationId xmlns:a16="http://schemas.microsoft.com/office/drawing/2014/main" id="{7F8920AB-7291-84B0-5C44-D83F19B13E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655CF2-B479-730F-60F4-E13DA2E344EC}"/>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7175532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6FAC8-210A-6C7D-4B3E-46D61345BE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69BDC90-5EB1-06A2-B818-9961F3F408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A0FD240-F7DF-6F0F-7072-EFC64C688C63}"/>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5" name="Footer Placeholder 4">
            <a:extLst>
              <a:ext uri="{FF2B5EF4-FFF2-40B4-BE49-F238E27FC236}">
                <a16:creationId xmlns:a16="http://schemas.microsoft.com/office/drawing/2014/main" id="{3ED3D728-DF11-CDDC-AAC3-DDDD8976D7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E97ED-FC6B-ABBB-F59A-7F73BFDC253B}"/>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7817802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66FBA-6C67-908E-04D3-BCB624877DD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C163C3-D98E-42AA-6FEC-40D8FA6C39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1A58F5-522B-AE59-FF46-C64E2E2725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9296520-291B-B02E-CFFD-DFFCBEA467A4}"/>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6" name="Footer Placeholder 5">
            <a:extLst>
              <a:ext uri="{FF2B5EF4-FFF2-40B4-BE49-F238E27FC236}">
                <a16:creationId xmlns:a16="http://schemas.microsoft.com/office/drawing/2014/main" id="{F3936636-9478-7E0A-533F-D47BB8AE82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D434D15-A04A-6739-F50E-FC926CC48A62}"/>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2815218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EA29A1-F333-AEF1-B8DF-AB62B9416F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1611BA-4BCF-F934-4F1B-775E8798FD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D88AA8-4642-042C-6197-39D4D2E3E9E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78F5B6-9D61-8158-85AE-4AA7C60CA5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C61878-6573-5818-39D1-1EB040F1B3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2C9AC8-99C9-A4F6-E145-5311DD6BF1F3}"/>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8" name="Footer Placeholder 7">
            <a:extLst>
              <a:ext uri="{FF2B5EF4-FFF2-40B4-BE49-F238E27FC236}">
                <a16:creationId xmlns:a16="http://schemas.microsoft.com/office/drawing/2014/main" id="{BB232A42-98C2-7D4D-2F0B-A6A87F1539E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2A6BE2-872F-6E78-1BBD-A5B935A2D470}"/>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2511570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A0676-0804-1561-86BB-A8FE04EEFAD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5B4C0B-977C-202E-B892-96FE73C925BB}"/>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4" name="Footer Placeholder 3">
            <a:extLst>
              <a:ext uri="{FF2B5EF4-FFF2-40B4-BE49-F238E27FC236}">
                <a16:creationId xmlns:a16="http://schemas.microsoft.com/office/drawing/2014/main" id="{46331B68-F2A3-8250-8877-4A6D0804F9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EB9037C-416A-29FF-1442-9A836B7A8CC7}"/>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13635400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3F9A0A-19B0-A94A-6590-31EC9DF96AAC}"/>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3" name="Footer Placeholder 2">
            <a:extLst>
              <a:ext uri="{FF2B5EF4-FFF2-40B4-BE49-F238E27FC236}">
                <a16:creationId xmlns:a16="http://schemas.microsoft.com/office/drawing/2014/main" id="{7D35C0D7-9F41-9DB4-9A16-A4A9A674CCE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054B8-38B4-7310-6717-DC31B14C567E}"/>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258474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9D75F0-80A3-8C31-CFD7-283DF967F8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1AE572-789E-A98A-835D-882055F117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D2275C9-A738-F2F6-998C-8209D26EF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8C7E7F-EF4D-4FA4-EE88-8C92CAC604D0}"/>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6" name="Footer Placeholder 5">
            <a:extLst>
              <a:ext uri="{FF2B5EF4-FFF2-40B4-BE49-F238E27FC236}">
                <a16:creationId xmlns:a16="http://schemas.microsoft.com/office/drawing/2014/main" id="{A4508DEA-3807-3FC7-8A43-29EEA8DE43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CA886-5CF5-5108-4FFA-096866DDFBFB}"/>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3622680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211D49-4281-D497-75E4-D5857656DA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84BF7B-A902-A36D-DEF4-A438B6935B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891020B-E869-7A99-D84A-F3EB3B90D3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2277AC-8CB8-EF36-3D02-7F88EA46F76C}"/>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6" name="Footer Placeholder 5">
            <a:extLst>
              <a:ext uri="{FF2B5EF4-FFF2-40B4-BE49-F238E27FC236}">
                <a16:creationId xmlns:a16="http://schemas.microsoft.com/office/drawing/2014/main" id="{2BC760A4-337F-0689-104B-6CF06F42B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E1D2E3-1B50-DAC1-3A90-6C38E980928B}"/>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1208742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00E65-EA76-03C6-1F36-4CA50B158C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EA020C-DCC2-F9A5-224D-990CC988C4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E291E-38F3-B15D-08EA-E6AB135D3362}"/>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5" name="Footer Placeholder 4">
            <a:extLst>
              <a:ext uri="{FF2B5EF4-FFF2-40B4-BE49-F238E27FC236}">
                <a16:creationId xmlns:a16="http://schemas.microsoft.com/office/drawing/2014/main" id="{C32787A3-0EA2-968D-404B-A2EEAD813E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1451A4-65F2-1FE8-FB41-371E572979DA}"/>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176067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DD6DEB1-8F92-6347-ACA8-3326FC51E3C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EB580A-1B90-9A37-8648-2C158AF091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27E28-97F3-DACB-44A5-D09AC27A1651}"/>
              </a:ext>
            </a:extLst>
          </p:cNvPr>
          <p:cNvSpPr>
            <a:spLocks noGrp="1"/>
          </p:cNvSpPr>
          <p:nvPr>
            <p:ph type="dt" sz="half" idx="10"/>
          </p:nvPr>
        </p:nvSpPr>
        <p:spPr/>
        <p:txBody>
          <a:bodyPr/>
          <a:lstStyle/>
          <a:p>
            <a:fld id="{729DB911-48E5-4251-B130-A1A5C205802B}" type="datetimeFigureOut">
              <a:rPr lang="en-US" smtClean="0"/>
              <a:t>5/24/2025</a:t>
            </a:fld>
            <a:endParaRPr lang="en-US"/>
          </a:p>
        </p:txBody>
      </p:sp>
      <p:sp>
        <p:nvSpPr>
          <p:cNvPr id="5" name="Footer Placeholder 4">
            <a:extLst>
              <a:ext uri="{FF2B5EF4-FFF2-40B4-BE49-F238E27FC236}">
                <a16:creationId xmlns:a16="http://schemas.microsoft.com/office/drawing/2014/main" id="{379D9628-C783-F2D0-3891-D343BF6AD3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895494-2B90-671A-F59B-A10A4A2D80B7}"/>
              </a:ext>
            </a:extLst>
          </p:cNvPr>
          <p:cNvSpPr>
            <a:spLocks noGrp="1"/>
          </p:cNvSpPr>
          <p:nvPr>
            <p:ph type="sldNum" sz="quarter" idx="12"/>
          </p:nvPr>
        </p:nvSpPr>
        <p:spPr/>
        <p:txBody>
          <a:bodyPr/>
          <a:lstStyle/>
          <a:p>
            <a:fld id="{F5CFCCF0-8671-40AB-9F68-F8FF57E03AC2}" type="slidenum">
              <a:rPr lang="en-US" smtClean="0"/>
              <a:t>‹#›</a:t>
            </a:fld>
            <a:endParaRPr lang="en-US"/>
          </a:p>
        </p:txBody>
      </p:sp>
    </p:spTree>
    <p:extLst>
      <p:ext uri="{BB962C8B-B14F-4D97-AF65-F5344CB8AC3E}">
        <p14:creationId xmlns:p14="http://schemas.microsoft.com/office/powerpoint/2010/main" val="6587882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BF9DC8-13DB-9635-4469-B7C69BDF48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8617AA4-7422-2B1E-930C-075C3BF67AC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875A7A-53C9-36AB-D4E3-6BA5E45094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29DB911-48E5-4251-B130-A1A5C205802B}" type="datetimeFigureOut">
              <a:rPr lang="en-US" smtClean="0"/>
              <a:t>5/24/2025</a:t>
            </a:fld>
            <a:endParaRPr lang="en-US"/>
          </a:p>
        </p:txBody>
      </p:sp>
      <p:sp>
        <p:nvSpPr>
          <p:cNvPr id="5" name="Footer Placeholder 4">
            <a:extLst>
              <a:ext uri="{FF2B5EF4-FFF2-40B4-BE49-F238E27FC236}">
                <a16:creationId xmlns:a16="http://schemas.microsoft.com/office/drawing/2014/main" id="{287AEF61-7D05-5BE0-141E-00EABF12D0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C062E3-BCFB-F421-8AC7-DEF153AB58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CFCCF0-8671-40AB-9F68-F8FF57E03AC2}" type="slidenum">
              <a:rPr lang="en-US" smtClean="0"/>
              <a:t>‹#›</a:t>
            </a:fld>
            <a:endParaRPr lang="en-US"/>
          </a:p>
        </p:txBody>
      </p:sp>
    </p:spTree>
    <p:extLst>
      <p:ext uri="{BB962C8B-B14F-4D97-AF65-F5344CB8AC3E}">
        <p14:creationId xmlns:p14="http://schemas.microsoft.com/office/powerpoint/2010/main" val="32318384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5659-E187-40A0-4537-0F95A6317BF8}"/>
              </a:ext>
            </a:extLst>
          </p:cNvPr>
          <p:cNvSpPr>
            <a:spLocks noGrp="1"/>
          </p:cNvSpPr>
          <p:nvPr>
            <p:ph type="ctrTitle"/>
          </p:nvPr>
        </p:nvSpPr>
        <p:spPr/>
        <p:txBody>
          <a:bodyPr/>
          <a:lstStyle/>
          <a:p>
            <a:pPr marL="172720" marR="0" indent="-90170" algn="ctr">
              <a:lnSpc>
                <a:spcPct val="127000"/>
              </a:lnSpc>
              <a:spcBef>
                <a:spcPts val="1200"/>
              </a:spcBef>
              <a:spcAft>
                <a:spcPts val="1060"/>
              </a:spcAft>
            </a:pPr>
            <a:r>
              <a:rPr lang="en-US" sz="1800" b="1" dirty="0">
                <a:solidFill>
                  <a:srgbClr val="000000"/>
                </a:solidFill>
                <a:effectLst/>
                <a:latin typeface="Times New Roman" panose="02020603050405020304" pitchFamily="18" charset="0"/>
                <a:ea typeface="Arial" panose="020B0604020202020204" pitchFamily="34" charset="0"/>
              </a:rPr>
              <a:t>PHÁT</a:t>
            </a:r>
            <a:r>
              <a:rPr lang="vi-VN" sz="1800" b="1" dirty="0">
                <a:solidFill>
                  <a:srgbClr val="000000"/>
                </a:solidFill>
                <a:effectLst/>
                <a:latin typeface="Times New Roman" panose="02020603050405020304" pitchFamily="18" charset="0"/>
                <a:ea typeface="Arial" panose="020B0604020202020204" pitchFamily="34" charset="0"/>
              </a:rPr>
              <a:t> HIỆN CONCEPT DRIFT SỬ DỤNG SHAPE DRIFT DETECTOR TRONG GIAI ĐOẠN XỬ LÝ DỮ LIỆU</a:t>
            </a:r>
            <a:endParaRPr lang="en-US" sz="1800" dirty="0">
              <a:solidFill>
                <a:srgbClr val="000000"/>
              </a:solidFill>
              <a:effectLst/>
              <a:latin typeface="Calibri" panose="020F0502020204030204" pitchFamily="34" charset="0"/>
              <a:ea typeface="Calibri" panose="020F0502020204030204" pitchFamily="34" charset="0"/>
            </a:endParaRPr>
          </a:p>
        </p:txBody>
      </p:sp>
      <p:sp>
        <p:nvSpPr>
          <p:cNvPr id="3" name="Subtitle 2">
            <a:extLst>
              <a:ext uri="{FF2B5EF4-FFF2-40B4-BE49-F238E27FC236}">
                <a16:creationId xmlns:a16="http://schemas.microsoft.com/office/drawing/2014/main" id="{54C4CB69-C295-31CF-8B2D-20C9BB178562}"/>
              </a:ext>
            </a:extLst>
          </p:cNvPr>
          <p:cNvSpPr>
            <a:spLocks noGrp="1"/>
          </p:cNvSpPr>
          <p:nvPr>
            <p:ph type="subTitle" idx="1"/>
          </p:nvPr>
        </p:nvSpPr>
        <p:spPr/>
        <p:txBody>
          <a:bodyPr/>
          <a:lstStyle/>
          <a:p>
            <a:r>
              <a:rPr lang="en-US" dirty="0"/>
              <a:t>Le Phuc Duc</a:t>
            </a:r>
          </a:p>
        </p:txBody>
      </p:sp>
      <p:pic>
        <p:nvPicPr>
          <p:cNvPr id="4" name="Picture 3" descr="A blue and black logo&#10;&#10;Description automatically generated">
            <a:extLst>
              <a:ext uri="{FF2B5EF4-FFF2-40B4-BE49-F238E27FC236}">
                <a16:creationId xmlns:a16="http://schemas.microsoft.com/office/drawing/2014/main" id="{B140174D-C828-6CCB-A2DC-8B45EBC029A4}"/>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a:xfrm>
            <a:off x="10840720" y="0"/>
            <a:ext cx="1351280" cy="1287780"/>
          </a:xfrm>
          <a:prstGeom prst="rect">
            <a:avLst/>
          </a:prstGeom>
        </p:spPr>
      </p:pic>
    </p:spTree>
    <p:extLst>
      <p:ext uri="{BB962C8B-B14F-4D97-AF65-F5344CB8AC3E}">
        <p14:creationId xmlns:p14="http://schemas.microsoft.com/office/powerpoint/2010/main" val="32245912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ACB3F-919B-CFDC-B1C3-933BA8E0B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6983A9-AAD7-1A1D-AAAF-512F76F914F9}"/>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6575B6F8-E305-AE5A-868F-82E7B8436563}"/>
              </a:ext>
            </a:extLst>
          </p:cNvPr>
          <p:cNvSpPr>
            <a:spLocks noGrp="1"/>
          </p:cNvSpPr>
          <p:nvPr>
            <p:ph idx="1"/>
          </p:nvPr>
        </p:nvSpPr>
        <p:spPr/>
        <p:txBody>
          <a:bodyPr/>
          <a:lstStyle/>
          <a:p>
            <a:r>
              <a:rPr lang="en-US" dirty="0">
                <a:latin typeface="Arial (Body)"/>
              </a:rPr>
              <a:t>How MMD work ?</a:t>
            </a:r>
            <a:endParaRPr lang="vi-VN" dirty="0">
              <a:latin typeface="Arial (Body)"/>
            </a:endParaRPr>
          </a:p>
          <a:p>
            <a:pPr lvl="1"/>
            <a:r>
              <a:rPr lang="vi-VN" dirty="0">
                <a:latin typeface="Arial (Body)"/>
              </a:rPr>
              <a:t>Assuming </a:t>
            </a:r>
            <a:r>
              <a:rPr lang="en-US" dirty="0">
                <a:latin typeface="Arial (Body)"/>
              </a:rPr>
              <a:t>we have 2 distributions like this.</a:t>
            </a:r>
          </a:p>
          <a:p>
            <a:endParaRPr lang="en-US" dirty="0">
              <a:latin typeface="Arial (Body)"/>
            </a:endParaRPr>
          </a:p>
        </p:txBody>
      </p:sp>
      <p:pic>
        <p:nvPicPr>
          <p:cNvPr id="5" name="Picture 4">
            <a:extLst>
              <a:ext uri="{FF2B5EF4-FFF2-40B4-BE49-F238E27FC236}">
                <a16:creationId xmlns:a16="http://schemas.microsoft.com/office/drawing/2014/main" id="{656F5746-B51B-8C31-8125-693F93C4AC92}"/>
              </a:ext>
            </a:extLst>
          </p:cNvPr>
          <p:cNvPicPr>
            <a:picLocks noChangeAspect="1"/>
          </p:cNvPicPr>
          <p:nvPr/>
        </p:nvPicPr>
        <p:blipFill>
          <a:blip r:embed="rId2"/>
          <a:stretch>
            <a:fillRect/>
          </a:stretch>
        </p:blipFill>
        <p:spPr>
          <a:xfrm>
            <a:off x="2165739" y="2864942"/>
            <a:ext cx="7860522" cy="3627933"/>
          </a:xfrm>
          <a:prstGeom prst="rect">
            <a:avLst/>
          </a:prstGeom>
        </p:spPr>
      </p:pic>
    </p:spTree>
    <p:extLst>
      <p:ext uri="{BB962C8B-B14F-4D97-AF65-F5344CB8AC3E}">
        <p14:creationId xmlns:p14="http://schemas.microsoft.com/office/powerpoint/2010/main" val="1942983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265C5-B9F8-5D1C-32B4-8377DAEC16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C07D3-0087-2063-E11E-87C9B82B3673}"/>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BB8F1506-C978-A2C7-5636-94BD06209DF5}"/>
              </a:ext>
            </a:extLst>
          </p:cNvPr>
          <p:cNvSpPr>
            <a:spLocks noGrp="1"/>
          </p:cNvSpPr>
          <p:nvPr>
            <p:ph idx="1"/>
          </p:nvPr>
        </p:nvSpPr>
        <p:spPr/>
        <p:txBody>
          <a:bodyPr/>
          <a:lstStyle/>
          <a:p>
            <a:r>
              <a:rPr lang="en-US" dirty="0">
                <a:latin typeface="Arial (Body)"/>
              </a:rPr>
              <a:t>How MMD work ?</a:t>
            </a:r>
          </a:p>
          <a:p>
            <a:endParaRPr lang="en-US" dirty="0">
              <a:latin typeface="Arial (Body)"/>
            </a:endParaRPr>
          </a:p>
        </p:txBody>
      </p:sp>
      <p:pic>
        <p:nvPicPr>
          <p:cNvPr id="6" name="Picture 5">
            <a:extLst>
              <a:ext uri="{FF2B5EF4-FFF2-40B4-BE49-F238E27FC236}">
                <a16:creationId xmlns:a16="http://schemas.microsoft.com/office/drawing/2014/main" id="{F1B30A64-907C-02E5-B7D0-D8DEF6E91719}"/>
              </a:ext>
            </a:extLst>
          </p:cNvPr>
          <p:cNvPicPr>
            <a:picLocks noChangeAspect="1"/>
          </p:cNvPicPr>
          <p:nvPr/>
        </p:nvPicPr>
        <p:blipFill>
          <a:blip r:embed="rId2"/>
          <a:stretch>
            <a:fillRect/>
          </a:stretch>
        </p:blipFill>
        <p:spPr>
          <a:xfrm>
            <a:off x="2244609" y="2281850"/>
            <a:ext cx="7702780" cy="3627516"/>
          </a:xfrm>
          <a:prstGeom prst="rect">
            <a:avLst/>
          </a:prstGeom>
        </p:spPr>
      </p:pic>
      <p:pic>
        <p:nvPicPr>
          <p:cNvPr id="8" name="Picture 7">
            <a:extLst>
              <a:ext uri="{FF2B5EF4-FFF2-40B4-BE49-F238E27FC236}">
                <a16:creationId xmlns:a16="http://schemas.microsoft.com/office/drawing/2014/main" id="{3AC38D64-F96C-7CA4-B906-1904E9ACCF5B}"/>
              </a:ext>
            </a:extLst>
          </p:cNvPr>
          <p:cNvPicPr>
            <a:picLocks noChangeAspect="1"/>
          </p:cNvPicPr>
          <p:nvPr/>
        </p:nvPicPr>
        <p:blipFill>
          <a:blip r:embed="rId3"/>
          <a:stretch>
            <a:fillRect/>
          </a:stretch>
        </p:blipFill>
        <p:spPr>
          <a:xfrm>
            <a:off x="3709653" y="5909187"/>
            <a:ext cx="4772691" cy="724001"/>
          </a:xfrm>
          <a:prstGeom prst="rect">
            <a:avLst/>
          </a:prstGeom>
        </p:spPr>
      </p:pic>
      <p:sp>
        <p:nvSpPr>
          <p:cNvPr id="9" name="TextBox 8">
            <a:extLst>
              <a:ext uri="{FF2B5EF4-FFF2-40B4-BE49-F238E27FC236}">
                <a16:creationId xmlns:a16="http://schemas.microsoft.com/office/drawing/2014/main" id="{7C4CDF84-B5B0-2DC1-51EB-414D32E0E7B5}"/>
              </a:ext>
            </a:extLst>
          </p:cNvPr>
          <p:cNvSpPr txBox="1"/>
          <p:nvPr/>
        </p:nvSpPr>
        <p:spPr>
          <a:xfrm>
            <a:off x="288758" y="5943411"/>
            <a:ext cx="3195587" cy="923330"/>
          </a:xfrm>
          <a:prstGeom prst="rect">
            <a:avLst/>
          </a:prstGeom>
          <a:noFill/>
        </p:spPr>
        <p:txBody>
          <a:bodyPr wrap="square" rtlCol="0">
            <a:spAutoFit/>
          </a:bodyPr>
          <a:lstStyle/>
          <a:p>
            <a:r>
              <a:rPr lang="en-US" dirty="0"/>
              <a:t>Expectation of observation X that is sampled from distribution P</a:t>
            </a:r>
          </a:p>
        </p:txBody>
      </p:sp>
      <p:sp>
        <p:nvSpPr>
          <p:cNvPr id="10" name="TextBox 9">
            <a:extLst>
              <a:ext uri="{FF2B5EF4-FFF2-40B4-BE49-F238E27FC236}">
                <a16:creationId xmlns:a16="http://schemas.microsoft.com/office/drawing/2014/main" id="{D348DEAE-B95E-1E66-EE6F-BD8C73946939}"/>
              </a:ext>
            </a:extLst>
          </p:cNvPr>
          <p:cNvSpPr txBox="1"/>
          <p:nvPr/>
        </p:nvSpPr>
        <p:spPr>
          <a:xfrm>
            <a:off x="8482344" y="5943411"/>
            <a:ext cx="3195587" cy="923330"/>
          </a:xfrm>
          <a:prstGeom prst="rect">
            <a:avLst/>
          </a:prstGeom>
          <a:noFill/>
        </p:spPr>
        <p:txBody>
          <a:bodyPr wrap="square" rtlCol="0">
            <a:spAutoFit/>
          </a:bodyPr>
          <a:lstStyle/>
          <a:p>
            <a:r>
              <a:rPr lang="en-US" dirty="0"/>
              <a:t>Expectation of observation </a:t>
            </a:r>
            <a:r>
              <a:rPr lang="vi-VN" dirty="0"/>
              <a:t>Y</a:t>
            </a:r>
            <a:r>
              <a:rPr lang="en-US" dirty="0"/>
              <a:t> that is sampled from distribution </a:t>
            </a:r>
            <a:r>
              <a:rPr lang="vi-VN" dirty="0"/>
              <a:t>Q</a:t>
            </a:r>
            <a:endParaRPr lang="en-US" dirty="0"/>
          </a:p>
        </p:txBody>
      </p:sp>
    </p:spTree>
    <p:extLst>
      <p:ext uri="{BB962C8B-B14F-4D97-AF65-F5344CB8AC3E}">
        <p14:creationId xmlns:p14="http://schemas.microsoft.com/office/powerpoint/2010/main" val="35507051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09A6-AADE-CD37-C3B1-8ED9340857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7EE21D-55E3-11E2-AF24-C3B16576FB7B}"/>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DB8DFCEB-94B9-7AC5-1440-E79733C73C0C}"/>
              </a:ext>
            </a:extLst>
          </p:cNvPr>
          <p:cNvSpPr>
            <a:spLocks noGrp="1"/>
          </p:cNvSpPr>
          <p:nvPr>
            <p:ph idx="1"/>
          </p:nvPr>
        </p:nvSpPr>
        <p:spPr/>
        <p:txBody>
          <a:bodyPr/>
          <a:lstStyle/>
          <a:p>
            <a:r>
              <a:rPr lang="en-US" dirty="0">
                <a:latin typeface="Arial (Body)"/>
              </a:rPr>
              <a:t>How MMD work ?</a:t>
            </a:r>
          </a:p>
          <a:p>
            <a:pPr lvl="1"/>
            <a:r>
              <a:rPr lang="en-US" dirty="0">
                <a:latin typeface="Arial (Body)"/>
              </a:rPr>
              <a:t>What if the distribution is like this ? We should consider another thing such as variance… </a:t>
            </a:r>
          </a:p>
          <a:p>
            <a:endParaRPr lang="en-US" dirty="0">
              <a:latin typeface="Arial (Body)"/>
            </a:endParaRPr>
          </a:p>
        </p:txBody>
      </p:sp>
      <p:pic>
        <p:nvPicPr>
          <p:cNvPr id="11" name="Picture 10">
            <a:extLst>
              <a:ext uri="{FF2B5EF4-FFF2-40B4-BE49-F238E27FC236}">
                <a16:creationId xmlns:a16="http://schemas.microsoft.com/office/drawing/2014/main" id="{55586150-6168-BDA1-BCC9-3333BD2A0969}"/>
              </a:ext>
            </a:extLst>
          </p:cNvPr>
          <p:cNvPicPr>
            <a:picLocks noChangeAspect="1"/>
          </p:cNvPicPr>
          <p:nvPr/>
        </p:nvPicPr>
        <p:blipFill>
          <a:blip r:embed="rId2"/>
          <a:srcRect l="1719"/>
          <a:stretch/>
        </p:blipFill>
        <p:spPr>
          <a:xfrm>
            <a:off x="3041964" y="3088762"/>
            <a:ext cx="6216812" cy="3404113"/>
          </a:xfrm>
          <a:prstGeom prst="rect">
            <a:avLst/>
          </a:prstGeom>
        </p:spPr>
      </p:pic>
    </p:spTree>
    <p:extLst>
      <p:ext uri="{BB962C8B-B14F-4D97-AF65-F5344CB8AC3E}">
        <p14:creationId xmlns:p14="http://schemas.microsoft.com/office/powerpoint/2010/main" val="6035555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7D4066-8468-95B5-1F5E-3EDC28B1E1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36F66-BAE4-724D-5A90-9E25156233F0}"/>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69261E9-E2D1-2FFE-0BD5-74525DFB56B1}"/>
                  </a:ext>
                </a:extLst>
              </p:cNvPr>
              <p:cNvSpPr>
                <a:spLocks noGrp="1"/>
              </p:cNvSpPr>
              <p:nvPr>
                <p:ph idx="1"/>
              </p:nvPr>
            </p:nvSpPr>
            <p:spPr/>
            <p:txBody>
              <a:bodyPr>
                <a:normAutofit fontScale="92500" lnSpcReduction="20000"/>
              </a:bodyPr>
              <a:lstStyle/>
              <a:p>
                <a:r>
                  <a:rPr lang="en-US" dirty="0">
                    <a:latin typeface="Arial (Body)"/>
                  </a:rPr>
                  <a:t>How MMD work ?</a:t>
                </a:r>
                <a:endParaRPr lang="vi-VN" dirty="0">
                  <a:latin typeface="Arial (Body)"/>
                </a:endParaRPr>
              </a:p>
              <a:p>
                <a:pPr marL="0" indent="0">
                  <a:buNone/>
                </a:pPr>
                <a14:m>
                  <m:oMathPara xmlns:m="http://schemas.openxmlformats.org/officeDocument/2006/math">
                    <m:oMathParaPr>
                      <m:jc m:val="centerGroup"/>
                    </m:oMathParaPr>
                    <m:oMath xmlns:m="http://schemas.openxmlformats.org/officeDocument/2006/math">
                      <m:r>
                        <m:rPr>
                          <m:sty m:val="p"/>
                        </m:rPr>
                        <a:rPr lang="vi-VN" i="1" dirty="0">
                          <a:latin typeface="Cambria Math" panose="02040503050406030204" pitchFamily="18" charset="0"/>
                        </a:rPr>
                        <m:t>MMD</m:t>
                      </m:r>
                      <m:d>
                        <m:dPr>
                          <m:ctrlPr>
                            <a:rPr lang="vi-VN" i="1" dirty="0" smtClean="0">
                              <a:latin typeface="Cambria Math" panose="02040503050406030204" pitchFamily="18" charset="0"/>
                            </a:rPr>
                          </m:ctrlPr>
                        </m:dPr>
                        <m:e>
                          <m:r>
                            <m:rPr>
                              <m:sty m:val="p"/>
                            </m:rPr>
                            <a:rPr lang="vi-VN" i="1" dirty="0">
                              <a:latin typeface="Cambria Math" panose="02040503050406030204" pitchFamily="18" charset="0"/>
                            </a:rPr>
                            <m:t>P</m:t>
                          </m:r>
                          <m:r>
                            <a:rPr lang="vi-VN" b="0" i="1" dirty="0" smtClean="0">
                              <a:latin typeface="Cambria Math" panose="02040503050406030204" pitchFamily="18" charset="0"/>
                            </a:rPr>
                            <m:t>,</m:t>
                          </m:r>
                          <m:r>
                            <m:rPr>
                              <m:sty m:val="p"/>
                            </m:rPr>
                            <a:rPr lang="vi-VN" i="1" dirty="0">
                              <a:latin typeface="Cambria Math" panose="02040503050406030204" pitchFamily="18" charset="0"/>
                            </a:rPr>
                            <m:t>Q</m:t>
                          </m:r>
                          <m:r>
                            <a:rPr lang="vi-VN" b="0" i="1" dirty="0" smtClean="0">
                              <a:latin typeface="Cambria Math" panose="02040503050406030204" pitchFamily="18" charset="0"/>
                            </a:rPr>
                            <m:t>; </m:t>
                          </m:r>
                          <m:r>
                            <m:rPr>
                              <m:sty m:val="p"/>
                            </m:rPr>
                            <a:rPr lang="vi-VN" i="1" dirty="0">
                              <a:latin typeface="Cambria Math" panose="02040503050406030204" pitchFamily="18" charset="0"/>
                            </a:rPr>
                            <m:t>F</m:t>
                          </m:r>
                        </m:e>
                      </m:d>
                      <m:r>
                        <a:rPr lang="vi-VN" b="0" i="1" dirty="0" smtClean="0">
                          <a:latin typeface="Cambria Math" panose="02040503050406030204" pitchFamily="18" charset="0"/>
                        </a:rPr>
                        <m:t>=</m:t>
                      </m:r>
                      <m:sPre>
                        <m:sPrePr>
                          <m:ctrlPr>
                            <a:rPr lang="vi-VN" b="0" i="1" dirty="0" smtClean="0">
                              <a:latin typeface="Cambria Math" panose="02040503050406030204" pitchFamily="18" charset="0"/>
                            </a:rPr>
                          </m:ctrlPr>
                        </m:sPrePr>
                        <m:sub>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sub>
                        <m:sup>
                          <m:r>
                            <m:rPr>
                              <m:sty m:val="p"/>
                            </m:rPr>
                            <a:rPr lang="vi-VN" i="1" smtClean="0">
                              <a:latin typeface="Cambria Math" panose="02040503050406030204" pitchFamily="18" charset="0"/>
                            </a:rPr>
                            <m:t>sup</m:t>
                          </m:r>
                        </m:sup>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r>
                                <a:rPr lang="vi-VN"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smtClean="0">
                                      <a:latin typeface="Cambria Math" panose="02040503050406030204" pitchFamily="18" charset="0"/>
                                    </a:rPr>
                                    <m:t>Y</m:t>
                                  </m:r>
                                  <m:r>
                                    <a:rPr lang="vi-VN" i="1">
                                      <a:latin typeface="Cambria Math" panose="02040503050406030204" pitchFamily="18" charset="0"/>
                                    </a:rPr>
                                    <m:t>~ </m:t>
                                  </m:r>
                                  <m:r>
                                    <m:rPr>
                                      <m:sty m:val="p"/>
                                    </m:rPr>
                                    <a:rPr lang="vi-VN" i="1" smtClean="0">
                                      <a:latin typeface="Cambria Math" panose="02040503050406030204" pitchFamily="18" charset="0"/>
                                    </a:rPr>
                                    <m:t>Q</m:t>
                                  </m:r>
                                </m:sub>
                              </m:sSub>
                              <m:d>
                                <m:dPr>
                                  <m:begChr m:val="⌈"/>
                                  <m:endChr m:val="⌉"/>
                                  <m:ctrlPr>
                                    <a:rPr lang="en-US" i="1">
                                      <a:latin typeface="Cambria Math" panose="02040503050406030204" pitchFamily="18" charset="0"/>
                                    </a:rPr>
                                  </m:ctrlPr>
                                </m:dPr>
                                <m:e>
                                  <m:r>
                                    <m:rPr>
                                      <m:sty m:val="p"/>
                                    </m:rPr>
                                    <a:rPr lang="vi-VN" i="1">
                                      <a:latin typeface="Cambria Math" panose="02040503050406030204" pitchFamily="18" charset="0"/>
                                    </a:rPr>
                                    <m:t>f</m:t>
                                  </m:r>
                                  <m:d>
                                    <m:dPr>
                                      <m:ctrlPr>
                                        <a:rPr lang="vi-VN" i="1">
                                          <a:latin typeface="Cambria Math" panose="02040503050406030204" pitchFamily="18" charset="0"/>
                                        </a:rPr>
                                      </m:ctrlPr>
                                    </m:dPr>
                                    <m:e>
                                      <m:r>
                                        <m:rPr>
                                          <m:sty m:val="p"/>
                                        </m:rPr>
                                        <a:rPr lang="vi-VN" i="1" smtClean="0">
                                          <a:latin typeface="Cambria Math" panose="02040503050406030204" pitchFamily="18" charset="0"/>
                                        </a:rPr>
                                        <m:t>Y</m:t>
                                      </m:r>
                                    </m:e>
                                  </m:d>
                                </m:e>
                              </m:d>
                            </m:e>
                          </m:d>
                        </m:e>
                      </m:sPre>
                    </m:oMath>
                  </m:oMathPara>
                </a14:m>
                <a:endParaRPr lang="en-US" dirty="0">
                  <a:latin typeface="Arial (Body)"/>
                </a:endParaRPr>
              </a:p>
              <a:p>
                <a:pPr marL="0" indent="0">
                  <a:buNone/>
                </a:pPr>
                <a:endParaRPr lang="vi-VN" dirty="0">
                  <a:latin typeface="Arial (Body)"/>
                </a:endParaRPr>
              </a:p>
              <a:p>
                <a:pPr lvl="1"/>
                <a:r>
                  <a:rPr lang="vi-VN" dirty="0">
                    <a:latin typeface="Arial (Body)"/>
                  </a:rPr>
                  <a:t>P and Q </a:t>
                </a:r>
                <a:r>
                  <a:rPr lang="en-US" dirty="0">
                    <a:latin typeface="Arial (Body)"/>
                  </a:rPr>
                  <a:t>are 2 distribution we want to measure.</a:t>
                </a:r>
              </a:p>
              <a:p>
                <a:pPr lvl="1"/>
                <a:r>
                  <a:rPr lang="en-US" dirty="0">
                    <a:latin typeface="Arial (Body)"/>
                  </a:rPr>
                  <a:t>X ~ P: The random variable X is sampled from distribution P.</a:t>
                </a:r>
              </a:p>
              <a:p>
                <a:pPr lvl="1"/>
                <a:r>
                  <a:rPr lang="en-US" dirty="0">
                    <a:latin typeface="Arial (Body)"/>
                  </a:rPr>
                  <a:t>Y ~ Q: The random variable X is sampled from distribution Q.</a:t>
                </a:r>
                <a:endParaRPr lang="vi-VN" dirty="0">
                  <a:latin typeface="Arial (Body)"/>
                </a:endParaRPr>
              </a:p>
              <a:p>
                <a:pPr lvl="1"/>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oMath>
                </a14:m>
                <a:r>
                  <a:rPr lang="vi-VN" dirty="0">
                    <a:latin typeface="Arial (Body)"/>
                  </a:rPr>
                  <a:t>: </a:t>
                </a:r>
                <a:r>
                  <a:rPr lang="en-US" dirty="0">
                    <a:latin typeface="Arial (Body)"/>
                  </a:rPr>
                  <a:t>Expectation (mean) of the </a:t>
                </a:r>
                <a:r>
                  <a:rPr lang="vi-VN" dirty="0">
                    <a:latin typeface="Arial (Body)"/>
                  </a:rPr>
                  <a:t>function f(X) when </a:t>
                </a:r>
                <a:r>
                  <a:rPr lang="en-US" dirty="0">
                    <a:latin typeface="Arial (Body)"/>
                  </a:rPr>
                  <a:t>X is sampled from P.</a:t>
                </a:r>
              </a:p>
              <a:p>
                <a:pPr lvl="1"/>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a:rPr lang="en-US" b="0" i="1" smtClean="0">
                            <a:latin typeface="Cambria Math" panose="02040503050406030204" pitchFamily="18" charset="0"/>
                          </a:rPr>
                          <m:t>𝑌</m:t>
                        </m:r>
                        <m:r>
                          <a:rPr lang="vi-VN" b="0" i="1" smtClean="0">
                            <a:latin typeface="Cambria Math" panose="02040503050406030204" pitchFamily="18" charset="0"/>
                          </a:rPr>
                          <m:t> ~ </m:t>
                        </m:r>
                        <m:r>
                          <a:rPr lang="en-US" b="0" i="1" smtClean="0">
                            <a:latin typeface="Cambria Math" panose="02040503050406030204" pitchFamily="18" charset="0"/>
                          </a:rPr>
                          <m:t>𝑄</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a:rPr lang="en-US" b="0" i="1" smtClean="0">
                                <a:latin typeface="Cambria Math" panose="02040503050406030204" pitchFamily="18" charset="0"/>
                              </a:rPr>
                              <m:t>𝑌</m:t>
                            </m:r>
                          </m:e>
                        </m:d>
                      </m:e>
                    </m:d>
                  </m:oMath>
                </a14:m>
                <a:r>
                  <a:rPr lang="vi-VN" dirty="0">
                    <a:latin typeface="Arial (Body)"/>
                  </a:rPr>
                  <a:t>: </a:t>
                </a:r>
                <a:r>
                  <a:rPr lang="en-US" dirty="0">
                    <a:latin typeface="Arial (Body)"/>
                  </a:rPr>
                  <a:t>Expectation (mean) of the </a:t>
                </a:r>
                <a:r>
                  <a:rPr lang="vi-VN" dirty="0">
                    <a:latin typeface="Arial (Body)"/>
                  </a:rPr>
                  <a:t>function f(</a:t>
                </a:r>
                <a:r>
                  <a:rPr lang="en-US" dirty="0">
                    <a:latin typeface="Arial (Body)"/>
                  </a:rPr>
                  <a:t>Y</a:t>
                </a:r>
                <a:r>
                  <a:rPr lang="vi-VN" dirty="0">
                    <a:latin typeface="Arial (Body)"/>
                  </a:rPr>
                  <a:t>) when </a:t>
                </a:r>
                <a:r>
                  <a:rPr lang="en-US" dirty="0">
                    <a:latin typeface="Arial (Body)"/>
                  </a:rPr>
                  <a:t>Y is sampled from Q.</a:t>
                </a:r>
              </a:p>
              <a:p>
                <a:pPr lvl="1"/>
                <a14:m>
                  <m:oMath xmlns:m="http://schemas.openxmlformats.org/officeDocument/2006/math">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oMath>
                </a14:m>
                <a:r>
                  <a:rPr lang="en-US" dirty="0">
                    <a:latin typeface="Arial (Body)"/>
                  </a:rPr>
                  <a:t>: f function is limited to a set (specifically, functions with “size” less than or equal to 1 in a special space, called RKHS).</a:t>
                </a:r>
              </a:p>
              <a:p>
                <a:pPr lvl="1"/>
                <a:r>
                  <a:rPr lang="en-US" dirty="0">
                    <a:latin typeface="Arial (Body)"/>
                  </a:rPr>
                  <a:t>sup: Supremum, that is, the largest possible value of the inner expression when we try all functions f satisfying the condition </a:t>
                </a:r>
                <a14:m>
                  <m:oMath xmlns:m="http://schemas.openxmlformats.org/officeDocument/2006/math">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oMath>
                </a14:m>
                <a:r>
                  <a:rPr lang="en-US" dirty="0">
                    <a:latin typeface="Arial (Body)"/>
                  </a:rPr>
                  <a:t>.</a:t>
                </a:r>
                <a:endParaRPr lang="vi-VN" dirty="0">
                  <a:latin typeface="Arial (Body)"/>
                </a:endParaRPr>
              </a:p>
              <a:p>
                <a:pPr lvl="1"/>
                <a:endParaRPr lang="en-US" dirty="0">
                  <a:latin typeface="Arial (Body)"/>
                </a:endParaRPr>
              </a:p>
              <a:p>
                <a:pPr lvl="1"/>
                <a:endParaRPr lang="en-US" dirty="0">
                  <a:latin typeface="Arial (Body)"/>
                </a:endParaRPr>
              </a:p>
              <a:p>
                <a:endParaRPr lang="en-US" dirty="0">
                  <a:latin typeface="Arial (Body)"/>
                </a:endParaRPr>
              </a:p>
            </p:txBody>
          </p:sp>
        </mc:Choice>
        <mc:Fallback xmlns="">
          <p:sp>
            <p:nvSpPr>
              <p:cNvPr id="3" name="Content Placeholder 2">
                <a:extLst>
                  <a:ext uri="{FF2B5EF4-FFF2-40B4-BE49-F238E27FC236}">
                    <a16:creationId xmlns:a16="http://schemas.microsoft.com/office/drawing/2014/main" id="{069261E9-E2D1-2FFE-0BD5-74525DFB56B1}"/>
                  </a:ext>
                </a:extLst>
              </p:cNvPr>
              <p:cNvSpPr>
                <a:spLocks noGrp="1" noRot="1" noChangeAspect="1" noMove="1" noResize="1" noEditPoints="1" noAdjustHandles="1" noChangeArrowheads="1" noChangeShapeType="1" noTextEdit="1"/>
              </p:cNvSpPr>
              <p:nvPr>
                <p:ph idx="1"/>
              </p:nvPr>
            </p:nvSpPr>
            <p:spPr>
              <a:blipFill>
                <a:blip r:embed="rId2"/>
                <a:stretch>
                  <a:fillRect l="-928" t="-3922" b="-3081"/>
                </a:stretch>
              </a:blipFill>
            </p:spPr>
            <p:txBody>
              <a:bodyPr/>
              <a:lstStyle/>
              <a:p>
                <a:r>
                  <a:rPr lang="en-US">
                    <a:noFill/>
                  </a:rPr>
                  <a:t> </a:t>
                </a:r>
              </a:p>
            </p:txBody>
          </p:sp>
        </mc:Fallback>
      </mc:AlternateContent>
    </p:spTree>
    <p:extLst>
      <p:ext uri="{BB962C8B-B14F-4D97-AF65-F5344CB8AC3E}">
        <p14:creationId xmlns:p14="http://schemas.microsoft.com/office/powerpoint/2010/main" val="2984169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EAB792-2CCE-B19A-C6B8-4E01CE01A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2E17D-6C41-8629-16B9-73394A3EBEC5}"/>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4B3E77-1E10-71B0-A058-7FD88A34B6A1}"/>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pPr lvl="1"/>
                <a:r>
                  <a:rPr lang="en-US" dirty="0">
                    <a:latin typeface="Arial (Body)"/>
                  </a:rPr>
                  <a:t>Example:</a:t>
                </a:r>
              </a:p>
              <a:p>
                <a:pPr lvl="2"/>
                <a:r>
                  <a:rPr lang="en-US" dirty="0">
                    <a:latin typeface="Arial (Body)"/>
                  </a:rPr>
                  <a:t>P </a:t>
                </a:r>
                <a:r>
                  <a:rPr lang="en-US" dirty="0" err="1">
                    <a:latin typeface="Arial (Body)"/>
                  </a:rPr>
                  <a:t>là</a:t>
                </a:r>
                <a:r>
                  <a:rPr lang="en-US" dirty="0">
                    <a:latin typeface="Arial (Body)"/>
                  </a:rPr>
                  <a:t> </a:t>
                </a:r>
                <a:r>
                  <a:rPr lang="en-US" dirty="0" err="1">
                    <a:latin typeface="Arial (Body)"/>
                  </a:rPr>
                  <a:t>phân</a:t>
                </a:r>
                <a:r>
                  <a:rPr lang="en-US" dirty="0">
                    <a:latin typeface="Arial (Body)"/>
                  </a:rPr>
                  <a:t> </a:t>
                </a:r>
                <a:r>
                  <a:rPr lang="en-US" dirty="0" err="1">
                    <a:latin typeface="Arial (Body)"/>
                  </a:rPr>
                  <a:t>phối</a:t>
                </a:r>
                <a:r>
                  <a:rPr lang="en-US" dirty="0">
                    <a:latin typeface="Arial (Body)"/>
                  </a:rPr>
                  <a:t> </a:t>
                </a:r>
                <a:r>
                  <a:rPr lang="en-US" dirty="0" err="1">
                    <a:latin typeface="Arial (Body)"/>
                  </a:rPr>
                  <a:t>chiều</a:t>
                </a:r>
                <a:r>
                  <a:rPr lang="en-US" dirty="0">
                    <a:latin typeface="Arial (Body)"/>
                  </a:rPr>
                  <a:t> </a:t>
                </a:r>
                <a:r>
                  <a:rPr lang="en-US" dirty="0" err="1">
                    <a:latin typeface="Arial (Body)"/>
                  </a:rPr>
                  <a:t>cao</a:t>
                </a:r>
                <a:r>
                  <a:rPr lang="en-US" dirty="0">
                    <a:latin typeface="Arial (Body)"/>
                  </a:rPr>
                  <a:t> </a:t>
                </a:r>
                <a:r>
                  <a:rPr lang="en-US" dirty="0" err="1">
                    <a:latin typeface="Arial (Body)"/>
                  </a:rPr>
                  <a:t>của</a:t>
                </a:r>
                <a:r>
                  <a:rPr lang="en-US" dirty="0">
                    <a:latin typeface="Arial (Body)"/>
                  </a:rPr>
                  <a:t> </a:t>
                </a:r>
                <a:r>
                  <a:rPr lang="en-US" dirty="0" err="1">
                    <a:latin typeface="Arial (Body)"/>
                  </a:rPr>
                  <a:t>lớp</a:t>
                </a:r>
                <a:r>
                  <a:rPr lang="en-US" dirty="0">
                    <a:latin typeface="Arial (Body)"/>
                  </a:rPr>
                  <a:t> A.</a:t>
                </a:r>
                <a:endParaRPr lang="vi-VN" dirty="0">
                  <a:latin typeface="Arial (Body)"/>
                </a:endParaRPr>
              </a:p>
              <a:p>
                <a:pPr lvl="2"/>
                <a:r>
                  <a:rPr lang="en-US" dirty="0">
                    <a:latin typeface="Arial (Body)"/>
                  </a:rPr>
                  <a:t>Q </a:t>
                </a:r>
                <a:r>
                  <a:rPr lang="en-US" dirty="0" err="1">
                    <a:latin typeface="Arial (Body)"/>
                  </a:rPr>
                  <a:t>là</a:t>
                </a:r>
                <a:r>
                  <a:rPr lang="en-US" dirty="0">
                    <a:latin typeface="Arial (Body)"/>
                  </a:rPr>
                  <a:t> </a:t>
                </a:r>
                <a:r>
                  <a:rPr lang="en-US" dirty="0" err="1">
                    <a:latin typeface="Arial (Body)"/>
                  </a:rPr>
                  <a:t>phân</a:t>
                </a:r>
                <a:r>
                  <a:rPr lang="en-US" dirty="0">
                    <a:latin typeface="Arial (Body)"/>
                  </a:rPr>
                  <a:t> </a:t>
                </a:r>
                <a:r>
                  <a:rPr lang="en-US" dirty="0" err="1">
                    <a:latin typeface="Arial (Body)"/>
                  </a:rPr>
                  <a:t>phối</a:t>
                </a:r>
                <a:r>
                  <a:rPr lang="en-US" dirty="0">
                    <a:latin typeface="Arial (Body)"/>
                  </a:rPr>
                  <a:t> </a:t>
                </a:r>
                <a:r>
                  <a:rPr lang="en-US" dirty="0" err="1">
                    <a:latin typeface="Arial (Body)"/>
                  </a:rPr>
                  <a:t>chiều</a:t>
                </a:r>
                <a:r>
                  <a:rPr lang="en-US" dirty="0">
                    <a:latin typeface="Arial (Body)"/>
                  </a:rPr>
                  <a:t> </a:t>
                </a:r>
                <a:r>
                  <a:rPr lang="en-US" dirty="0" err="1">
                    <a:latin typeface="Arial (Body)"/>
                  </a:rPr>
                  <a:t>cao</a:t>
                </a:r>
                <a:r>
                  <a:rPr lang="en-US" dirty="0">
                    <a:latin typeface="Arial (Body)"/>
                  </a:rPr>
                  <a:t> </a:t>
                </a:r>
                <a:r>
                  <a:rPr lang="en-US" dirty="0" err="1">
                    <a:latin typeface="Arial (Body)"/>
                  </a:rPr>
                  <a:t>của</a:t>
                </a:r>
                <a:r>
                  <a:rPr lang="en-US" dirty="0">
                    <a:latin typeface="Arial (Body)"/>
                  </a:rPr>
                  <a:t> </a:t>
                </a:r>
                <a:r>
                  <a:rPr lang="en-US" dirty="0" err="1">
                    <a:latin typeface="Arial (Body)"/>
                  </a:rPr>
                  <a:t>lớp</a:t>
                </a:r>
                <a:r>
                  <a:rPr lang="en-US" dirty="0">
                    <a:latin typeface="Arial (Body)"/>
                  </a:rPr>
                  <a:t> B.</a:t>
                </a:r>
                <a:endParaRPr lang="vi-VN" dirty="0">
                  <a:latin typeface="Arial (Body)"/>
                </a:endParaRPr>
              </a:p>
              <a:p>
                <a:pPr lvl="2"/>
                <a:r>
                  <a:rPr lang="en-US" dirty="0">
                    <a:latin typeface="Arial (Body)"/>
                  </a:rPr>
                  <a:t>If f(X) is a function that returns a large value when X is close to 1.6m (</a:t>
                </a:r>
                <a14:m>
                  <m:oMath xmlns:m="http://schemas.openxmlformats.org/officeDocument/2006/math">
                    <m:r>
                      <m:rPr>
                        <m:sty m:val="p"/>
                      </m:rPr>
                      <a:rPr lang="en-US" b="0" i="0" smtClean="0">
                        <a:latin typeface="Cambria Math" panose="02040503050406030204" pitchFamily="18" charset="0"/>
                      </a:rPr>
                      <m:t>f</m:t>
                    </m:r>
                    <m:d>
                      <m:dPr>
                        <m:ctrlPr>
                          <a:rPr lang="en-US"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 −1,6)</m:t>
                            </m:r>
                          </m:e>
                          <m:sup>
                            <m:r>
                              <a:rPr lang="en-US" b="0" i="1" smtClean="0">
                                <a:latin typeface="Cambria Math" panose="02040503050406030204" pitchFamily="18" charset="0"/>
                              </a:rPr>
                              <m:t>2</m:t>
                            </m:r>
                          </m:sup>
                        </m:sSup>
                      </m:sup>
                    </m:sSup>
                  </m:oMath>
                </a14:m>
                <a:r>
                  <a:rPr lang="en-US" dirty="0">
                    <a:latin typeface="Arial (Body)"/>
                  </a:rPr>
                  <a:t>)</a:t>
                </a:r>
                <a:r>
                  <a:rPr lang="vi-VN" dirty="0">
                    <a:latin typeface="Arial (Body)"/>
                  </a:rPr>
                  <a:t> then</a:t>
                </a:r>
              </a:p>
              <a:p>
                <a:pPr lvl="2"/>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r>
                      <a:rPr lang="vi-VN" i="1">
                        <a:latin typeface="Cambria Math" panose="02040503050406030204" pitchFamily="18" charset="0"/>
                      </a:rPr>
                      <m:t> </m:t>
                    </m:r>
                  </m:oMath>
                </a14:m>
                <a:r>
                  <a:rPr lang="en-US" dirty="0" err="1">
                    <a:latin typeface="Arial (Body)"/>
                  </a:rPr>
                  <a:t>sẽ</a:t>
                </a:r>
                <a:r>
                  <a:rPr lang="en-US" dirty="0">
                    <a:latin typeface="Arial (Body)"/>
                  </a:rPr>
                  <a:t> </a:t>
                </a:r>
                <a:r>
                  <a:rPr lang="en-US" dirty="0" err="1">
                    <a:latin typeface="Arial (Body)"/>
                  </a:rPr>
                  <a:t>lớn</a:t>
                </a:r>
                <a:r>
                  <a:rPr lang="en-US" dirty="0">
                    <a:latin typeface="Arial (Body)"/>
                  </a:rPr>
                  <a:t> </a:t>
                </a:r>
                <a:r>
                  <a:rPr lang="en-US" dirty="0" err="1">
                    <a:latin typeface="Arial (Body)"/>
                  </a:rPr>
                  <a:t>nếu</a:t>
                </a:r>
                <a:r>
                  <a:rPr lang="en-US" dirty="0">
                    <a:latin typeface="Arial (Body)"/>
                  </a:rPr>
                  <a:t> </a:t>
                </a:r>
                <a:r>
                  <a:rPr lang="en-US" dirty="0" err="1">
                    <a:latin typeface="Arial (Body)"/>
                  </a:rPr>
                  <a:t>lớp</a:t>
                </a:r>
                <a:r>
                  <a:rPr lang="en-US" dirty="0">
                    <a:latin typeface="Arial (Body)"/>
                  </a:rPr>
                  <a:t> A </a:t>
                </a:r>
                <a:r>
                  <a:rPr lang="en-US" dirty="0" err="1">
                    <a:latin typeface="Arial (Body)"/>
                  </a:rPr>
                  <a:t>có</a:t>
                </a:r>
                <a:r>
                  <a:rPr lang="en-US" dirty="0">
                    <a:latin typeface="Arial (Body)"/>
                  </a:rPr>
                  <a:t> </a:t>
                </a:r>
                <a:r>
                  <a:rPr lang="en-US" dirty="0" err="1">
                    <a:latin typeface="Arial (Body)"/>
                  </a:rPr>
                  <a:t>nhiều</a:t>
                </a:r>
                <a:r>
                  <a:rPr lang="en-US" dirty="0">
                    <a:latin typeface="Arial (Body)"/>
                  </a:rPr>
                  <a:t> </a:t>
                </a:r>
                <a:r>
                  <a:rPr lang="en-US" dirty="0" err="1">
                    <a:latin typeface="Arial (Body)"/>
                  </a:rPr>
                  <a:t>học</a:t>
                </a:r>
                <a:r>
                  <a:rPr lang="en-US" dirty="0">
                    <a:latin typeface="Arial (Body)"/>
                  </a:rPr>
                  <a:t> </a:t>
                </a:r>
                <a:r>
                  <a:rPr lang="en-US" dirty="0" err="1">
                    <a:latin typeface="Arial (Body)"/>
                  </a:rPr>
                  <a:t>sinh</a:t>
                </a:r>
                <a:r>
                  <a:rPr lang="en-US" dirty="0">
                    <a:latin typeface="Arial (Body)"/>
                  </a:rPr>
                  <a:t> </a:t>
                </a:r>
                <a:r>
                  <a:rPr lang="en-US" dirty="0" err="1">
                    <a:latin typeface="Arial (Body)"/>
                  </a:rPr>
                  <a:t>cao</a:t>
                </a:r>
                <a:r>
                  <a:rPr lang="en-US" dirty="0">
                    <a:latin typeface="Arial (Body)"/>
                  </a:rPr>
                  <a:t> </a:t>
                </a:r>
                <a:r>
                  <a:rPr lang="en-US" dirty="0" err="1">
                    <a:latin typeface="Arial (Body)"/>
                  </a:rPr>
                  <a:t>khoảng</a:t>
                </a:r>
                <a:r>
                  <a:rPr lang="en-US" dirty="0">
                    <a:latin typeface="Arial (Body)"/>
                  </a:rPr>
                  <a:t> 1.6m.</a:t>
                </a:r>
              </a:p>
              <a:p>
                <a:pPr lvl="2"/>
                <a14:m>
                  <m:oMath xmlns:m="http://schemas.openxmlformats.org/officeDocument/2006/math">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a:rPr lang="en-US" b="0" i="1" smtClean="0">
                            <a:latin typeface="Cambria Math" panose="02040503050406030204" pitchFamily="18" charset="0"/>
                          </a:rPr>
                          <m:t>𝑌</m:t>
                        </m:r>
                        <m:r>
                          <a:rPr lang="vi-VN" b="0" i="1" smtClean="0">
                            <a:latin typeface="Cambria Math" panose="02040503050406030204" pitchFamily="18" charset="0"/>
                          </a:rPr>
                          <m:t> ~ </m:t>
                        </m:r>
                        <m:r>
                          <a:rPr lang="en-US" b="0" i="1" smtClean="0">
                            <a:latin typeface="Cambria Math" panose="02040503050406030204" pitchFamily="18" charset="0"/>
                          </a:rPr>
                          <m:t>𝑄</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a:rPr lang="en-US" b="0" i="1" smtClean="0">
                                <a:latin typeface="Cambria Math" panose="02040503050406030204" pitchFamily="18" charset="0"/>
                              </a:rPr>
                              <m:t>𝑌</m:t>
                            </m:r>
                          </m:e>
                        </m:d>
                      </m:e>
                    </m:d>
                    <m:r>
                      <a:rPr lang="vi-VN" i="1">
                        <a:latin typeface="Cambria Math" panose="02040503050406030204" pitchFamily="18" charset="0"/>
                      </a:rPr>
                      <m:t> </m:t>
                    </m:r>
                  </m:oMath>
                </a14:m>
                <a:r>
                  <a:rPr lang="en-US" dirty="0" err="1">
                    <a:latin typeface="Arial (Body)"/>
                  </a:rPr>
                  <a:t>sẽ</a:t>
                </a:r>
                <a:r>
                  <a:rPr lang="en-US" dirty="0">
                    <a:latin typeface="Arial (Body)"/>
                  </a:rPr>
                  <a:t> </a:t>
                </a:r>
                <a:r>
                  <a:rPr lang="en-US" dirty="0" err="1">
                    <a:latin typeface="Arial (Body)"/>
                  </a:rPr>
                  <a:t>nhỏ</a:t>
                </a:r>
                <a:r>
                  <a:rPr lang="en-US" dirty="0">
                    <a:latin typeface="Arial (Body)"/>
                  </a:rPr>
                  <a:t> </a:t>
                </a:r>
                <a:r>
                  <a:rPr lang="en-US" dirty="0" err="1">
                    <a:latin typeface="Arial (Body)"/>
                  </a:rPr>
                  <a:t>nếu</a:t>
                </a:r>
                <a:r>
                  <a:rPr lang="en-US" dirty="0">
                    <a:latin typeface="Arial (Body)"/>
                  </a:rPr>
                  <a:t> </a:t>
                </a:r>
                <a:r>
                  <a:rPr lang="en-US" dirty="0" err="1">
                    <a:latin typeface="Arial (Body)"/>
                  </a:rPr>
                  <a:t>lớp</a:t>
                </a:r>
                <a:r>
                  <a:rPr lang="en-US" dirty="0">
                    <a:latin typeface="Arial (Body)"/>
                  </a:rPr>
                  <a:t> B </a:t>
                </a:r>
                <a:r>
                  <a:rPr lang="en-US" dirty="0" err="1">
                    <a:latin typeface="Arial (Body)"/>
                  </a:rPr>
                  <a:t>có</a:t>
                </a:r>
                <a:r>
                  <a:rPr lang="en-US" dirty="0">
                    <a:latin typeface="Arial (Body)"/>
                  </a:rPr>
                  <a:t> </a:t>
                </a:r>
                <a:r>
                  <a:rPr lang="en-US" dirty="0" err="1">
                    <a:latin typeface="Arial (Body)"/>
                  </a:rPr>
                  <a:t>ít</a:t>
                </a:r>
                <a:r>
                  <a:rPr lang="en-US" dirty="0">
                    <a:latin typeface="Arial (Body)"/>
                  </a:rPr>
                  <a:t> </a:t>
                </a:r>
                <a:r>
                  <a:rPr lang="en-US" dirty="0" err="1">
                    <a:latin typeface="Arial (Body)"/>
                  </a:rPr>
                  <a:t>học</a:t>
                </a:r>
                <a:r>
                  <a:rPr lang="en-US" dirty="0">
                    <a:latin typeface="Arial (Body)"/>
                  </a:rPr>
                  <a:t> </a:t>
                </a:r>
                <a:r>
                  <a:rPr lang="en-US" dirty="0" err="1">
                    <a:latin typeface="Arial (Body)"/>
                  </a:rPr>
                  <a:t>sinh</a:t>
                </a:r>
                <a:r>
                  <a:rPr lang="en-US" dirty="0">
                    <a:latin typeface="Arial (Body)"/>
                  </a:rPr>
                  <a:t> </a:t>
                </a:r>
                <a:r>
                  <a:rPr lang="en-US" dirty="0" err="1">
                    <a:latin typeface="Arial (Body)"/>
                  </a:rPr>
                  <a:t>cao</a:t>
                </a:r>
                <a:r>
                  <a:rPr lang="en-US" dirty="0">
                    <a:latin typeface="Arial (Body)"/>
                  </a:rPr>
                  <a:t> </a:t>
                </a:r>
                <a:r>
                  <a:rPr lang="en-US" dirty="0" err="1">
                    <a:latin typeface="Arial (Body)"/>
                  </a:rPr>
                  <a:t>khoảng</a:t>
                </a:r>
                <a:r>
                  <a:rPr lang="en-US" dirty="0">
                    <a:latin typeface="Arial (Body)"/>
                  </a:rPr>
                  <a:t> 1.6m (</a:t>
                </a:r>
                <a:r>
                  <a:rPr lang="en-US" dirty="0" err="1">
                    <a:latin typeface="Arial (Body)"/>
                  </a:rPr>
                  <a:t>ví</a:t>
                </a:r>
                <a:r>
                  <a:rPr lang="en-US" dirty="0">
                    <a:latin typeface="Arial (Body)"/>
                  </a:rPr>
                  <a:t> </a:t>
                </a:r>
                <a:r>
                  <a:rPr lang="en-US" dirty="0" err="1">
                    <a:latin typeface="Arial (Body)"/>
                  </a:rPr>
                  <a:t>dụ</a:t>
                </a:r>
                <a:r>
                  <a:rPr lang="en-US" dirty="0">
                    <a:latin typeface="Arial (Body)"/>
                  </a:rPr>
                  <a:t>, </a:t>
                </a:r>
                <a:r>
                  <a:rPr lang="en-US" dirty="0" err="1">
                    <a:latin typeface="Arial (Body)"/>
                  </a:rPr>
                  <a:t>họ</a:t>
                </a:r>
                <a:r>
                  <a:rPr lang="en-US" dirty="0">
                    <a:latin typeface="Arial (Body)"/>
                  </a:rPr>
                  <a:t> </a:t>
                </a:r>
                <a:r>
                  <a:rPr lang="en-US" dirty="0" err="1">
                    <a:latin typeface="Arial (Body)"/>
                  </a:rPr>
                  <a:t>cao</a:t>
                </a:r>
                <a:r>
                  <a:rPr lang="en-US" dirty="0">
                    <a:latin typeface="Arial (Body)"/>
                  </a:rPr>
                  <a:t> </a:t>
                </a:r>
                <a:r>
                  <a:rPr lang="en-US" dirty="0" err="1">
                    <a:latin typeface="Arial (Body)"/>
                  </a:rPr>
                  <a:t>trung</a:t>
                </a:r>
                <a:r>
                  <a:rPr lang="en-US" dirty="0">
                    <a:latin typeface="Arial (Body)"/>
                  </a:rPr>
                  <a:t> </a:t>
                </a:r>
                <a:r>
                  <a:rPr lang="en-US" dirty="0" err="1">
                    <a:latin typeface="Arial (Body)"/>
                  </a:rPr>
                  <a:t>bình</a:t>
                </a:r>
                <a:r>
                  <a:rPr lang="en-US" dirty="0">
                    <a:latin typeface="Arial (Body)"/>
                  </a:rPr>
                  <a:t> 1.8m).</a:t>
                </a:r>
              </a:p>
              <a:p>
                <a:endParaRPr lang="en-US" dirty="0">
                  <a:latin typeface="Arial (Body)"/>
                </a:endParaRPr>
              </a:p>
            </p:txBody>
          </p:sp>
        </mc:Choice>
        <mc:Fallback xmlns="">
          <p:sp>
            <p:nvSpPr>
              <p:cNvPr id="3" name="Content Placeholder 2">
                <a:extLst>
                  <a:ext uri="{FF2B5EF4-FFF2-40B4-BE49-F238E27FC236}">
                    <a16:creationId xmlns:a16="http://schemas.microsoft.com/office/drawing/2014/main" id="{EB4B3E77-1E10-71B0-A058-7FD88A34B6A1}"/>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177337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2EF92-858B-9507-886F-DD4902042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7AF57E-D1EB-F43D-32B8-019586EE4701}"/>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6B4C802-D044-4935-1B4C-74C54B50D874}"/>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r>
                  <a:rPr lang="vi-VN" dirty="0">
                    <a:latin typeface="Arial (Body)"/>
                  </a:rPr>
                  <a:t>Công thức </a:t>
                </a:r>
                <a14:m>
                  <m:oMath xmlns:m="http://schemas.openxmlformats.org/officeDocument/2006/math">
                    <m:r>
                      <m:rPr>
                        <m:sty m:val="p"/>
                      </m:rPr>
                      <a:rPr lang="vi-VN" i="1" dirty="0" smtClean="0">
                        <a:latin typeface="Cambria Math" panose="02040503050406030204" pitchFamily="18" charset="0"/>
                      </a:rPr>
                      <m:t>MMD</m:t>
                    </m:r>
                    <m:d>
                      <m:dPr>
                        <m:ctrlPr>
                          <a:rPr lang="vi-VN" i="1" dirty="0" smtClean="0">
                            <a:latin typeface="Cambria Math" panose="02040503050406030204" pitchFamily="18" charset="0"/>
                          </a:rPr>
                        </m:ctrlPr>
                      </m:dPr>
                      <m:e>
                        <m:r>
                          <m:rPr>
                            <m:sty m:val="p"/>
                          </m:rPr>
                          <a:rPr lang="vi-VN" i="1" dirty="0">
                            <a:latin typeface="Cambria Math" panose="02040503050406030204" pitchFamily="18" charset="0"/>
                          </a:rPr>
                          <m:t>P</m:t>
                        </m:r>
                        <m:r>
                          <a:rPr lang="vi-VN" b="0" i="1" dirty="0" smtClean="0">
                            <a:latin typeface="Cambria Math" panose="02040503050406030204" pitchFamily="18" charset="0"/>
                          </a:rPr>
                          <m:t>,</m:t>
                        </m:r>
                        <m:r>
                          <m:rPr>
                            <m:sty m:val="p"/>
                          </m:rPr>
                          <a:rPr lang="vi-VN" i="1" dirty="0">
                            <a:latin typeface="Cambria Math" panose="02040503050406030204" pitchFamily="18" charset="0"/>
                          </a:rPr>
                          <m:t>Q</m:t>
                        </m:r>
                        <m:r>
                          <a:rPr lang="vi-VN" b="0" i="1" dirty="0" smtClean="0">
                            <a:latin typeface="Cambria Math" panose="02040503050406030204" pitchFamily="18" charset="0"/>
                          </a:rPr>
                          <m:t>; </m:t>
                        </m:r>
                        <m:r>
                          <m:rPr>
                            <m:sty m:val="p"/>
                          </m:rPr>
                          <a:rPr lang="vi-VN" i="1" dirty="0">
                            <a:latin typeface="Cambria Math" panose="02040503050406030204" pitchFamily="18" charset="0"/>
                          </a:rPr>
                          <m:t>F</m:t>
                        </m:r>
                      </m:e>
                    </m:d>
                    <m:r>
                      <a:rPr lang="vi-VN" b="0" i="1" dirty="0" smtClean="0">
                        <a:latin typeface="Cambria Math" panose="02040503050406030204" pitchFamily="18" charset="0"/>
                      </a:rPr>
                      <m:t>=</m:t>
                    </m:r>
                    <m:sPre>
                      <m:sPrePr>
                        <m:ctrlPr>
                          <a:rPr lang="vi-VN" b="0" i="1" dirty="0" smtClean="0">
                            <a:latin typeface="Cambria Math" panose="02040503050406030204" pitchFamily="18" charset="0"/>
                          </a:rPr>
                        </m:ctrlPr>
                      </m:sPrePr>
                      <m:sub>
                        <m:d>
                          <m:dPr>
                            <m:begChr m:val="‖"/>
                            <m:endChr m:val="‖"/>
                            <m:ctrlPr>
                              <a:rPr lang="vi-VN" b="0" i="1" dirty="0" smtClean="0">
                                <a:latin typeface="Cambria Math" panose="02040503050406030204" pitchFamily="18" charset="0"/>
                              </a:rPr>
                            </m:ctrlPr>
                          </m:dPr>
                          <m:e>
                            <m:r>
                              <m:rPr>
                                <m:sty m:val="p"/>
                              </m:rPr>
                              <a:rPr lang="vi-VN" i="1" dirty="0">
                                <a:latin typeface="Cambria Math" panose="02040503050406030204" pitchFamily="18" charset="0"/>
                              </a:rPr>
                              <m:t>f</m:t>
                            </m:r>
                          </m:e>
                        </m:d>
                        <m:r>
                          <a:rPr lang="vi-VN" b="0" i="1" dirty="0" smtClean="0">
                            <a:latin typeface="Cambria Math" panose="02040503050406030204" pitchFamily="18" charset="0"/>
                          </a:rPr>
                          <m:t> </m:t>
                        </m:r>
                        <m:r>
                          <a:rPr lang="vi-VN" b="0" i="1" dirty="0" smtClean="0">
                            <a:latin typeface="Cambria Math" panose="02040503050406030204" pitchFamily="18" charset="0"/>
                            <a:ea typeface="Cambria Math" panose="02040503050406030204" pitchFamily="18" charset="0"/>
                          </a:rPr>
                          <m:t>≤</m:t>
                        </m:r>
                        <m:r>
                          <a:rPr lang="vi-VN" i="1" dirty="0">
                            <a:latin typeface="Cambria Math" panose="02040503050406030204" pitchFamily="18" charset="0"/>
                            <a:ea typeface="Cambria Math" panose="02040503050406030204" pitchFamily="18" charset="0"/>
                          </a:rPr>
                          <m:t>1</m:t>
                        </m:r>
                      </m:sub>
                      <m:sup>
                        <m:r>
                          <m:rPr>
                            <m:sty m:val="p"/>
                          </m:rPr>
                          <a:rPr lang="vi-VN" i="1" smtClean="0">
                            <a:latin typeface="Cambria Math" panose="02040503050406030204" pitchFamily="18" charset="0"/>
                          </a:rPr>
                          <m:t>sup</m:t>
                        </m:r>
                      </m:sup>
                      <m:e>
                        <m:d>
                          <m:dPr>
                            <m:begChr m:val="|"/>
                            <m:endChr m:val="|"/>
                            <m:ctrlPr>
                              <a:rPr lang="en-US" i="1" smtClean="0">
                                <a:latin typeface="Cambria Math" panose="02040503050406030204" pitchFamily="18" charset="0"/>
                              </a:rPr>
                            </m:ctrlPr>
                          </m:dPr>
                          <m:e>
                            <m:sSub>
                              <m:sSubPr>
                                <m:ctrlPr>
                                  <a:rPr lang="en-US" i="1" smtClean="0">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a:latin typeface="Cambria Math" panose="02040503050406030204" pitchFamily="18" charset="0"/>
                                  </a:rPr>
                                  <m:t>X</m:t>
                                </m:r>
                                <m:r>
                                  <a:rPr lang="vi-VN" b="0" i="1" smtClean="0">
                                    <a:latin typeface="Cambria Math" panose="02040503050406030204" pitchFamily="18" charset="0"/>
                                  </a:rPr>
                                  <m:t> ~ </m:t>
                                </m:r>
                                <m:r>
                                  <m:rPr>
                                    <m:sty m:val="p"/>
                                  </m:rPr>
                                  <a:rPr lang="vi-VN" i="1">
                                    <a:latin typeface="Cambria Math" panose="02040503050406030204" pitchFamily="18" charset="0"/>
                                  </a:rPr>
                                  <m:t>P</m:t>
                                </m:r>
                              </m:sub>
                            </m:sSub>
                            <m:d>
                              <m:dPr>
                                <m:begChr m:val="⌈"/>
                                <m:endChr m:val="⌉"/>
                                <m:ctrlPr>
                                  <a:rPr lang="en-US" i="1" smtClean="0">
                                    <a:latin typeface="Cambria Math" panose="02040503050406030204" pitchFamily="18" charset="0"/>
                                  </a:rPr>
                                </m:ctrlPr>
                              </m:dPr>
                              <m:e>
                                <m:r>
                                  <m:rPr>
                                    <m:sty m:val="p"/>
                                  </m:rPr>
                                  <a:rPr lang="vi-VN" i="1">
                                    <a:latin typeface="Cambria Math" panose="02040503050406030204" pitchFamily="18" charset="0"/>
                                  </a:rPr>
                                  <m:t>f</m:t>
                                </m:r>
                                <m:d>
                                  <m:dPr>
                                    <m:ctrlPr>
                                      <a:rPr lang="vi-VN" i="1" smtClean="0">
                                        <a:latin typeface="Cambria Math" panose="02040503050406030204" pitchFamily="18" charset="0"/>
                                      </a:rPr>
                                    </m:ctrlPr>
                                  </m:dPr>
                                  <m:e>
                                    <m:r>
                                      <m:rPr>
                                        <m:sty m:val="p"/>
                                      </m:rPr>
                                      <a:rPr lang="vi-VN" i="1">
                                        <a:latin typeface="Cambria Math" panose="02040503050406030204" pitchFamily="18" charset="0"/>
                                      </a:rPr>
                                      <m:t>X</m:t>
                                    </m:r>
                                  </m:e>
                                </m:d>
                              </m:e>
                            </m:d>
                            <m:r>
                              <a:rPr lang="vi-VN" b="0" i="1" smtClean="0">
                                <a:latin typeface="Cambria Math" panose="02040503050406030204" pitchFamily="18" charset="0"/>
                              </a:rPr>
                              <m:t>−</m:t>
                            </m:r>
                            <m:sSub>
                              <m:sSubPr>
                                <m:ctrlPr>
                                  <a:rPr lang="en-US" i="1">
                                    <a:latin typeface="Cambria Math" panose="02040503050406030204" pitchFamily="18" charset="0"/>
                                  </a:rPr>
                                </m:ctrlPr>
                              </m:sSubPr>
                              <m:e>
                                <m:r>
                                  <m:rPr>
                                    <m:sty m:val="p"/>
                                  </m:rPr>
                                  <a:rPr lang="vi-VN" i="1">
                                    <a:latin typeface="Cambria Math" panose="02040503050406030204" pitchFamily="18" charset="0"/>
                                  </a:rPr>
                                  <m:t>E</m:t>
                                </m:r>
                              </m:e>
                              <m:sub>
                                <m:r>
                                  <m:rPr>
                                    <m:sty m:val="p"/>
                                  </m:rPr>
                                  <a:rPr lang="vi-VN" i="1" smtClean="0">
                                    <a:latin typeface="Cambria Math" panose="02040503050406030204" pitchFamily="18" charset="0"/>
                                  </a:rPr>
                                  <m:t>Y</m:t>
                                </m:r>
                                <m:r>
                                  <a:rPr lang="vi-VN" i="1">
                                    <a:latin typeface="Cambria Math" panose="02040503050406030204" pitchFamily="18" charset="0"/>
                                  </a:rPr>
                                  <m:t>~ </m:t>
                                </m:r>
                                <m:r>
                                  <m:rPr>
                                    <m:sty m:val="p"/>
                                  </m:rPr>
                                  <a:rPr lang="vi-VN" i="1" smtClean="0">
                                    <a:latin typeface="Cambria Math" panose="02040503050406030204" pitchFamily="18" charset="0"/>
                                  </a:rPr>
                                  <m:t>Q</m:t>
                                </m:r>
                              </m:sub>
                            </m:sSub>
                            <m:d>
                              <m:dPr>
                                <m:begChr m:val="⌈"/>
                                <m:endChr m:val="⌉"/>
                                <m:ctrlPr>
                                  <a:rPr lang="en-US" i="1">
                                    <a:latin typeface="Cambria Math" panose="02040503050406030204" pitchFamily="18" charset="0"/>
                                  </a:rPr>
                                </m:ctrlPr>
                              </m:dPr>
                              <m:e>
                                <m:r>
                                  <m:rPr>
                                    <m:sty m:val="p"/>
                                  </m:rPr>
                                  <a:rPr lang="vi-VN" i="1">
                                    <a:latin typeface="Cambria Math" panose="02040503050406030204" pitchFamily="18" charset="0"/>
                                  </a:rPr>
                                  <m:t>f</m:t>
                                </m:r>
                                <m:d>
                                  <m:dPr>
                                    <m:ctrlPr>
                                      <a:rPr lang="vi-VN" i="1">
                                        <a:latin typeface="Cambria Math" panose="02040503050406030204" pitchFamily="18" charset="0"/>
                                      </a:rPr>
                                    </m:ctrlPr>
                                  </m:dPr>
                                  <m:e>
                                    <m:r>
                                      <m:rPr>
                                        <m:sty m:val="p"/>
                                      </m:rPr>
                                      <a:rPr lang="vi-VN" i="1" smtClean="0">
                                        <a:latin typeface="Cambria Math" panose="02040503050406030204" pitchFamily="18" charset="0"/>
                                      </a:rPr>
                                      <m:t>Y</m:t>
                                    </m:r>
                                  </m:e>
                                </m:d>
                              </m:e>
                            </m:d>
                          </m:e>
                        </m:d>
                      </m:e>
                    </m:sPre>
                    <m:r>
                      <a:rPr lang="vi-VN" i="1" smtClean="0">
                        <a:latin typeface="Cambria Math" panose="02040503050406030204" pitchFamily="18" charset="0"/>
                      </a:rPr>
                      <m:t> </m:t>
                    </m:r>
                  </m:oMath>
                </a14:m>
                <a:r>
                  <a:rPr lang="vi-VN" dirty="0">
                    <a:latin typeface="Arial (Body)"/>
                  </a:rPr>
                  <a:t>yêu cầu tìm giá trị tối đa (supremum) của sự khác biệt giữa hai kì vọng, trên tất cả các hàm 𝑓 trong không gian 𝐻 sao cho ∥𝑓∥≤1.</a:t>
                </a:r>
              </a:p>
              <a:p>
                <a:r>
                  <a:rPr lang="vi-VN" dirty="0">
                    <a:latin typeface="Arial (Body)"/>
                  </a:rPr>
                  <a:t>Việc tìm sup⁡sup này rất khó trong thực tế, vì ta phải thử vô số </a:t>
                </a:r>
                <a:r>
                  <a:rPr lang="vi-VN">
                    <a:latin typeface="Arial (Body)"/>
                  </a:rPr>
                  <a:t>hàm 𝑓. </a:t>
                </a:r>
                <a:r>
                  <a:rPr lang="vi-VN" dirty="0">
                    <a:latin typeface="Arial (Body)"/>
                  </a:rPr>
                  <a:t>Điều này gần như không khả thi về mặt tính toán.</a:t>
                </a:r>
                <a:endParaRPr lang="en-US" dirty="0">
                  <a:latin typeface="Arial (Body)"/>
                </a:endParaRPr>
              </a:p>
            </p:txBody>
          </p:sp>
        </mc:Choice>
        <mc:Fallback xmlns="">
          <p:sp>
            <p:nvSpPr>
              <p:cNvPr id="3" name="Content Placeholder 2">
                <a:extLst>
                  <a:ext uri="{FF2B5EF4-FFF2-40B4-BE49-F238E27FC236}">
                    <a16:creationId xmlns:a16="http://schemas.microsoft.com/office/drawing/2014/main" id="{36B4C802-D044-4935-1B4C-74C54B50D874}"/>
                  </a:ext>
                </a:extLst>
              </p:cNvPr>
              <p:cNvSpPr>
                <a:spLocks noGrp="1" noRot="1" noChangeAspect="1" noMove="1" noResize="1" noEditPoints="1" noAdjustHandles="1" noChangeArrowheads="1" noChangeShapeType="1" noTextEdit="1"/>
              </p:cNvSpPr>
              <p:nvPr>
                <p:ph idx="1"/>
              </p:nvPr>
            </p:nvSpPr>
            <p:spPr>
              <a:blipFill>
                <a:blip r:embed="rId2"/>
                <a:stretch>
                  <a:fillRect l="-1043" t="-2381"/>
                </a:stretch>
              </a:blipFill>
            </p:spPr>
            <p:txBody>
              <a:bodyPr/>
              <a:lstStyle/>
              <a:p>
                <a:r>
                  <a:rPr lang="en-US">
                    <a:noFill/>
                  </a:rPr>
                  <a:t> </a:t>
                </a:r>
              </a:p>
            </p:txBody>
          </p:sp>
        </mc:Fallback>
      </mc:AlternateContent>
    </p:spTree>
    <p:extLst>
      <p:ext uri="{BB962C8B-B14F-4D97-AF65-F5344CB8AC3E}">
        <p14:creationId xmlns:p14="http://schemas.microsoft.com/office/powerpoint/2010/main" val="40876905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68F94-E693-F153-1391-06DF1BAFD3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5B23F6-0BA8-10DA-54E9-1600BF1CA558}"/>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C110CF6B-A0F7-77E7-19E3-344AA90939CC}"/>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endParaRPr lang="en-US" dirty="0">
              <a:latin typeface="Arial (Body)"/>
            </a:endParaRPr>
          </a:p>
        </p:txBody>
      </p:sp>
      <p:pic>
        <p:nvPicPr>
          <p:cNvPr id="5" name="Picture 4">
            <a:extLst>
              <a:ext uri="{FF2B5EF4-FFF2-40B4-BE49-F238E27FC236}">
                <a16:creationId xmlns:a16="http://schemas.microsoft.com/office/drawing/2014/main" id="{EB16CB7A-52A2-25C3-2BAE-DD1518DDC9E6}"/>
              </a:ext>
            </a:extLst>
          </p:cNvPr>
          <p:cNvPicPr>
            <a:picLocks noChangeAspect="1"/>
          </p:cNvPicPr>
          <p:nvPr/>
        </p:nvPicPr>
        <p:blipFill>
          <a:blip r:embed="rId2"/>
          <a:stretch>
            <a:fillRect/>
          </a:stretch>
        </p:blipFill>
        <p:spPr>
          <a:xfrm>
            <a:off x="1199466" y="2391713"/>
            <a:ext cx="9793067" cy="2934109"/>
          </a:xfrm>
          <a:prstGeom prst="rect">
            <a:avLst/>
          </a:prstGeom>
        </p:spPr>
      </p:pic>
    </p:spTree>
    <p:extLst>
      <p:ext uri="{BB962C8B-B14F-4D97-AF65-F5344CB8AC3E}">
        <p14:creationId xmlns:p14="http://schemas.microsoft.com/office/powerpoint/2010/main" val="2451805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30516-B2BE-7E4E-1EC1-A7CFEE2E69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036245-0544-90C8-B438-E20F0F0D76B3}"/>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C6961A2B-F15E-4B13-8BB0-29FEAE04455B}"/>
              </a:ext>
            </a:extLst>
          </p:cNvPr>
          <p:cNvSpPr>
            <a:spLocks noGrp="1"/>
          </p:cNvSpPr>
          <p:nvPr>
            <p:ph idx="1"/>
          </p:nvPr>
        </p:nvSpPr>
        <p:spPr/>
        <p:txBody>
          <a:bodyPr>
            <a:normAutofit/>
          </a:bodyPr>
          <a:lstStyle/>
          <a:p>
            <a:r>
              <a:rPr lang="en-US" dirty="0">
                <a:latin typeface="Arial (Body)"/>
              </a:rPr>
              <a:t>How MMD work ?</a:t>
            </a:r>
            <a:endParaRPr lang="vi-VN" dirty="0">
              <a:latin typeface="Arial (Body)"/>
            </a:endParaRPr>
          </a:p>
          <a:p>
            <a:endParaRPr lang="en-US" dirty="0">
              <a:latin typeface="Arial (Body)"/>
            </a:endParaRPr>
          </a:p>
        </p:txBody>
      </p:sp>
      <p:pic>
        <p:nvPicPr>
          <p:cNvPr id="6" name="Picture 5">
            <a:extLst>
              <a:ext uri="{FF2B5EF4-FFF2-40B4-BE49-F238E27FC236}">
                <a16:creationId xmlns:a16="http://schemas.microsoft.com/office/drawing/2014/main" id="{5E5249A2-8CDC-82F7-FEEB-889A90F8990E}"/>
              </a:ext>
            </a:extLst>
          </p:cNvPr>
          <p:cNvPicPr>
            <a:picLocks noChangeAspect="1"/>
          </p:cNvPicPr>
          <p:nvPr/>
        </p:nvPicPr>
        <p:blipFill>
          <a:blip r:embed="rId2"/>
          <a:stretch>
            <a:fillRect/>
          </a:stretch>
        </p:blipFill>
        <p:spPr>
          <a:xfrm>
            <a:off x="734291" y="2528388"/>
            <a:ext cx="11066383" cy="1539571"/>
          </a:xfrm>
          <a:prstGeom prst="rect">
            <a:avLst/>
          </a:prstGeom>
        </p:spPr>
      </p:pic>
    </p:spTree>
    <p:extLst>
      <p:ext uri="{BB962C8B-B14F-4D97-AF65-F5344CB8AC3E}">
        <p14:creationId xmlns:p14="http://schemas.microsoft.com/office/powerpoint/2010/main" val="1479915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8E7A8B-C0B4-0663-5767-DFD3B656FF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73EA2-C2A2-F6F2-C02C-7C5D259114CE}"/>
              </a:ext>
            </a:extLst>
          </p:cNvPr>
          <p:cNvSpPr>
            <a:spLocks noGrp="1"/>
          </p:cNvSpPr>
          <p:nvPr>
            <p:ph type="title"/>
          </p:nvPr>
        </p:nvSpPr>
        <p:spPr/>
        <p:txBody>
          <a:bodyPr/>
          <a:lstStyle/>
          <a:p>
            <a:r>
              <a:rPr lang="en-US" dirty="0" err="1"/>
              <a:t>ShapeDD</a:t>
            </a:r>
            <a:endParaRPr lang="en-US" dirty="0"/>
          </a:p>
        </p:txBody>
      </p:sp>
      <p:pic>
        <p:nvPicPr>
          <p:cNvPr id="6" name="Picture 5">
            <a:extLst>
              <a:ext uri="{FF2B5EF4-FFF2-40B4-BE49-F238E27FC236}">
                <a16:creationId xmlns:a16="http://schemas.microsoft.com/office/drawing/2014/main" id="{E78A8EAC-7BB3-A023-8013-BD5E716E3A87}"/>
              </a:ext>
            </a:extLst>
          </p:cNvPr>
          <p:cNvPicPr>
            <a:picLocks noChangeAspect="1"/>
          </p:cNvPicPr>
          <p:nvPr/>
        </p:nvPicPr>
        <p:blipFill>
          <a:blip r:embed="rId2"/>
          <a:stretch>
            <a:fillRect/>
          </a:stretch>
        </p:blipFill>
        <p:spPr>
          <a:xfrm>
            <a:off x="838200" y="1609602"/>
            <a:ext cx="10515601" cy="2960584"/>
          </a:xfrm>
          <a:prstGeom prst="rect">
            <a:avLst/>
          </a:prstGeom>
        </p:spPr>
      </p:pic>
    </p:spTree>
    <p:extLst>
      <p:ext uri="{BB962C8B-B14F-4D97-AF65-F5344CB8AC3E}">
        <p14:creationId xmlns:p14="http://schemas.microsoft.com/office/powerpoint/2010/main" val="2538496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187C7-E078-F0F6-A055-1F3F56A609E3}"/>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63B8F977-0631-799C-2789-F736E5922274}"/>
              </a:ext>
            </a:extLst>
          </p:cNvPr>
          <p:cNvSpPr>
            <a:spLocks noGrp="1"/>
          </p:cNvSpPr>
          <p:nvPr>
            <p:ph idx="1"/>
          </p:nvPr>
        </p:nvSpPr>
        <p:spPr/>
        <p:txBody>
          <a:bodyPr/>
          <a:lstStyle/>
          <a:p>
            <a:r>
              <a:rPr lang="vi-VN" dirty="0">
                <a:latin typeface="Arial (Body)"/>
              </a:rPr>
              <a:t>F</a:t>
            </a:r>
            <a:r>
              <a:rPr lang="en-US" dirty="0" err="1">
                <a:latin typeface="Arial (Body)"/>
              </a:rPr>
              <a:t>ocuses</a:t>
            </a:r>
            <a:r>
              <a:rPr lang="en-US" dirty="0">
                <a:latin typeface="Arial (Body)"/>
              </a:rPr>
              <a:t> on the discrepancy of two consecutive time windows, a</a:t>
            </a:r>
            <a:r>
              <a:rPr lang="vi-VN" dirty="0">
                <a:latin typeface="Arial (Body)"/>
              </a:rPr>
              <a:t> </a:t>
            </a:r>
            <a:r>
              <a:rPr lang="en-US" dirty="0">
                <a:latin typeface="Arial (Body)"/>
              </a:rPr>
              <a:t>quantity referred to as drift magnitude</a:t>
            </a:r>
          </a:p>
        </p:txBody>
      </p:sp>
      <p:pic>
        <p:nvPicPr>
          <p:cNvPr id="7" name="Picture 6">
            <a:extLst>
              <a:ext uri="{FF2B5EF4-FFF2-40B4-BE49-F238E27FC236}">
                <a16:creationId xmlns:a16="http://schemas.microsoft.com/office/drawing/2014/main" id="{893644B6-F43C-BD50-E39C-2830EF55C2E6}"/>
              </a:ext>
            </a:extLst>
          </p:cNvPr>
          <p:cNvPicPr>
            <a:picLocks noChangeAspect="1"/>
          </p:cNvPicPr>
          <p:nvPr/>
        </p:nvPicPr>
        <p:blipFill>
          <a:blip r:embed="rId2"/>
          <a:stretch>
            <a:fillRect/>
          </a:stretch>
        </p:blipFill>
        <p:spPr>
          <a:xfrm>
            <a:off x="1894888" y="3153450"/>
            <a:ext cx="8402223" cy="1695687"/>
          </a:xfrm>
          <a:prstGeom prst="rect">
            <a:avLst/>
          </a:prstGeom>
        </p:spPr>
      </p:pic>
    </p:spTree>
    <p:extLst>
      <p:ext uri="{BB962C8B-B14F-4D97-AF65-F5344CB8AC3E}">
        <p14:creationId xmlns:p14="http://schemas.microsoft.com/office/powerpoint/2010/main" val="2304256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2255D-203D-67EB-033D-4123123B87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8D759-ABF6-BED1-96D6-2F89CE81DD9B}"/>
              </a:ext>
            </a:extLst>
          </p:cNvPr>
          <p:cNvSpPr>
            <a:spLocks noGrp="1"/>
          </p:cNvSpPr>
          <p:nvPr>
            <p:ph type="title"/>
          </p:nvPr>
        </p:nvSpPr>
        <p:spPr/>
        <p:txBody>
          <a:bodyPr/>
          <a:lstStyle/>
          <a:p>
            <a:r>
              <a:rPr lang="en-US" dirty="0" err="1"/>
              <a:t>ShapeDD</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6ECF3B-137F-2A09-A40C-222CC535B9D6}"/>
                  </a:ext>
                </a:extLst>
              </p:cNvPr>
              <p:cNvSpPr>
                <a:spLocks noGrp="1"/>
              </p:cNvSpPr>
              <p:nvPr>
                <p:ph idx="1"/>
              </p:nvPr>
            </p:nvSpPr>
            <p:spPr/>
            <p:txBody>
              <a:bodyPr>
                <a:normAutofit fontScale="70000" lnSpcReduction="20000"/>
              </a:bodyPr>
              <a:lstStyle/>
              <a:p>
                <a:r>
                  <a:rPr lang="vi-VN" dirty="0">
                    <a:latin typeface="Arial (Body)"/>
                  </a:rPr>
                  <a:t>The algorithm takes 2 windows </a:t>
                </a:r>
                <a:r>
                  <a:rPr lang="en-US" dirty="0">
                    <a:latin typeface="Arial (Body)"/>
                  </a:rPr>
                  <a:t>of data and MMD is calculated on these 2 windows.</a:t>
                </a:r>
              </a:p>
              <a:p>
                <a:r>
                  <a:rPr lang="en-US" dirty="0">
                    <a:latin typeface="Arial (Body)"/>
                  </a:rPr>
                  <a:t>The shape function is computed by taking the convolution of </a:t>
                </a:r>
                <a14:m>
                  <m:oMath xmlns:m="http://schemas.openxmlformats.org/officeDocument/2006/math">
                    <m:acc>
                      <m:accPr>
                        <m:chr m:val="̂"/>
                        <m:ctrlPr>
                          <a:rPr lang="en-US" i="1" smtClean="0">
                            <a:latin typeface="Cambria Math" panose="02040503050406030204" pitchFamily="18" charset="0"/>
                          </a:rPr>
                        </m:ctrlPr>
                      </m:accPr>
                      <m:e>
                        <m:r>
                          <a:rPr lang="en-US" i="1" smtClean="0">
                            <a:latin typeface="Cambria Math" panose="02040503050406030204" pitchFamily="18" charset="0"/>
                            <a:ea typeface="Cambria Math" panose="02040503050406030204" pitchFamily="18" charset="0"/>
                          </a:rPr>
                          <m:t>𝜎</m:t>
                        </m:r>
                      </m:e>
                    </m:acc>
                  </m:oMath>
                </a14:m>
                <a:r>
                  <a:rPr lang="en-US" dirty="0">
                    <a:latin typeface="Arial (Body)"/>
                  </a:rPr>
                  <a:t> with a weight function w, </a:t>
                </a:r>
                <a:r>
                  <a:rPr lang="en-US" b="1" dirty="0">
                    <a:solidFill>
                      <a:srgbClr val="FF0000"/>
                    </a:solidFill>
                    <a:latin typeface="Arial (Body)"/>
                  </a:rPr>
                  <a:t>this is a small filter to detect change.</a:t>
                </a:r>
                <a:endParaRPr lang="vi-VN" b="1" dirty="0">
                  <a:solidFill>
                    <a:srgbClr val="FF0000"/>
                  </a:solidFill>
                  <a:latin typeface="Arial (Body)"/>
                </a:endParaRPr>
              </a:p>
              <a:p>
                <a:endParaRPr lang="vi-VN" dirty="0">
                  <a:latin typeface="Arial (Body)"/>
                </a:endParaRPr>
              </a:p>
              <a:p>
                <a:pPr marL="0" indent="0">
                  <a:buNone/>
                </a:pPr>
                <a14:m>
                  <m:oMathPara xmlns:m="http://schemas.openxmlformats.org/officeDocument/2006/math">
                    <m:oMathParaPr>
                      <m:jc m:val="center"/>
                    </m:oMathParaPr>
                    <m:oMath xmlns:m="http://schemas.openxmlformats.org/officeDocument/2006/math">
                      <m:r>
                        <a:rPr lang="en-US" b="0" i="1" smtClean="0">
                          <a:latin typeface="Cambria Math" panose="02040503050406030204" pitchFamily="18" charset="0"/>
                        </a:rPr>
                        <m:t>𝑤</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 </m:t>
                      </m:r>
                      <m:d>
                        <m:dPr>
                          <m:begChr m:val="{"/>
                          <m:endChr m:val=""/>
                          <m:ctrlPr>
                            <a:rPr lang="en-US" b="0" i="1" smtClean="0">
                              <a:latin typeface="Cambria Math" panose="02040503050406030204" pitchFamily="18" charset="0"/>
                            </a:rPr>
                          </m:ctrlPr>
                        </m:dPr>
                        <m:e>
                          <m:eqArr>
                            <m:eqArrPr>
                              <m:ctrlPr>
                                <a:rPr lang="en-US" b="0" i="1" smtClean="0">
                                  <a:latin typeface="Cambria Math" panose="02040503050406030204" pitchFamily="18" charset="0"/>
                                </a:rPr>
                              </m:ctrlPr>
                            </m:eqArrPr>
                            <m:e>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𝑙</m:t>
                                  </m:r>
                                </m:den>
                              </m:f>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−2</m:t>
                              </m:r>
                              <m:r>
                                <a:rPr lang="en-US" b="0" i="1" smtClean="0">
                                  <a:latin typeface="Cambria Math" panose="02040503050406030204" pitchFamily="18" charset="0"/>
                                </a:rPr>
                                <m:t>𝑙</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 &lt;−</m:t>
                              </m:r>
                              <m:r>
                                <a:rPr lang="en-US" b="0" i="1" smtClean="0">
                                  <a:latin typeface="Cambria Math" panose="02040503050406030204" pitchFamily="18" charset="0"/>
                                  <a:ea typeface="Cambria Math" panose="02040503050406030204" pitchFamily="18" charset="0"/>
                                </a:rPr>
                                <m:t>𝑙</m:t>
                              </m:r>
                            </m:e>
                            <m:e>
                              <m:f>
                                <m:fPr>
                                  <m:ctrlPr>
                                    <a:rPr lang="en-US" i="1">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𝑙</m:t>
                                  </m:r>
                                </m:den>
                              </m:f>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i="1">
                                  <a:latin typeface="Cambria Math" panose="02040503050406030204" pitchFamily="18" charset="0"/>
                                </a:rPr>
                                <m:t>𝑙</m:t>
                              </m:r>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 &lt;0</m:t>
                              </m:r>
                            </m:e>
                            <m:e>
                              <m:r>
                                <a:rPr lang="en-US" b="0" i="1" smtClean="0">
                                  <a:latin typeface="Cambria Math" panose="02040503050406030204" pitchFamily="18" charset="0"/>
                                </a:rPr>
                                <m:t>0                  </m:t>
                              </m:r>
                              <m:r>
                                <a:rPr lang="en-US" b="0" i="1" smtClean="0">
                                  <a:latin typeface="Cambria Math" panose="02040503050406030204" pitchFamily="18" charset="0"/>
                                </a:rPr>
                                <m:t>𝑜𝑡h𝑒𝑟𝑤𝑖𝑠𝑒</m:t>
                              </m:r>
                            </m:e>
                          </m:eqArr>
                        </m:e>
                      </m:d>
                    </m:oMath>
                  </m:oMathPara>
                </a14:m>
                <a:endParaRPr lang="vi-VN" dirty="0">
                  <a:latin typeface="Arial (Body)"/>
                </a:endParaRPr>
              </a:p>
              <a:p>
                <a:endParaRPr lang="vi-VN" dirty="0">
                  <a:latin typeface="Arial (Body)"/>
                </a:endParaRPr>
              </a:p>
              <a:p>
                <a:endParaRPr lang="vi-VN" dirty="0">
                  <a:latin typeface="Arial (Body)"/>
                </a:endParaRPr>
              </a:p>
              <a:p>
                <a:r>
                  <a:rPr lang="vi-VN" dirty="0">
                    <a:latin typeface="Arial (Body)"/>
                  </a:rPr>
                  <a:t>Example: </a:t>
                </a:r>
                <a:r>
                  <a:rPr lang="en-US" dirty="0">
                    <a:latin typeface="Arial (Body)"/>
                  </a:rPr>
                  <a:t>if L = 2 then</a:t>
                </a:r>
              </a:p>
              <a:p>
                <a:pPr lvl="1"/>
                <a:r>
                  <a:rPr lang="pl-PL" dirty="0">
                    <a:latin typeface="Arial (Body)"/>
                  </a:rPr>
                  <a:t>w = [</a:t>
                </a:r>
                <a:r>
                  <a:rPr lang="vi-VN" dirty="0">
                    <a:latin typeface="Arial (Body)"/>
                  </a:rPr>
                  <a:t>0.5</a:t>
                </a:r>
                <a:r>
                  <a:rPr lang="pl-PL" dirty="0">
                    <a:latin typeface="Arial (Body)"/>
                  </a:rPr>
                  <a:t>, </a:t>
                </a:r>
                <a:r>
                  <a:rPr lang="vi-VN" dirty="0">
                    <a:latin typeface="Arial (Body)"/>
                  </a:rPr>
                  <a:t>0.5</a:t>
                </a:r>
                <a:r>
                  <a:rPr lang="pl-PL" dirty="0">
                    <a:latin typeface="Arial (Body)"/>
                  </a:rPr>
                  <a:t>, -</a:t>
                </a:r>
                <a:r>
                  <a:rPr lang="vi-VN" dirty="0">
                    <a:latin typeface="Arial (Body)"/>
                  </a:rPr>
                  <a:t>0.5</a:t>
                </a:r>
                <a:r>
                  <a:rPr lang="pl-PL" dirty="0">
                    <a:latin typeface="Arial (Body)"/>
                  </a:rPr>
                  <a:t>, -</a:t>
                </a:r>
                <a:r>
                  <a:rPr lang="vi-VN" dirty="0">
                    <a:latin typeface="Arial (Body)"/>
                  </a:rPr>
                  <a:t>0.5</a:t>
                </a:r>
                <a:r>
                  <a:rPr lang="pl-PL" dirty="0">
                    <a:latin typeface="Arial (Body)"/>
                  </a:rPr>
                  <a:t>]</a:t>
                </a:r>
                <a:endParaRPr lang="en-US" dirty="0">
                  <a:latin typeface="Arial (Body)"/>
                </a:endParaRPr>
              </a:p>
            </p:txBody>
          </p:sp>
        </mc:Choice>
        <mc:Fallback xmlns="">
          <p:sp>
            <p:nvSpPr>
              <p:cNvPr id="3" name="Content Placeholder 2">
                <a:extLst>
                  <a:ext uri="{FF2B5EF4-FFF2-40B4-BE49-F238E27FC236}">
                    <a16:creationId xmlns:a16="http://schemas.microsoft.com/office/drawing/2014/main" id="{AE6ECF3B-137F-2A09-A40C-222CC535B9D6}"/>
                  </a:ext>
                </a:extLst>
              </p:cNvPr>
              <p:cNvSpPr>
                <a:spLocks noGrp="1" noRot="1" noChangeAspect="1" noMove="1" noResize="1" noEditPoints="1" noAdjustHandles="1" noChangeArrowheads="1" noChangeShapeType="1" noTextEdit="1"/>
              </p:cNvSpPr>
              <p:nvPr>
                <p:ph idx="1"/>
              </p:nvPr>
            </p:nvSpPr>
            <p:spPr>
              <a:blipFill>
                <a:blip r:embed="rId2"/>
                <a:stretch>
                  <a:fillRect l="-522" t="-2661"/>
                </a:stretch>
              </a:blipFill>
            </p:spPr>
            <p:txBody>
              <a:bodyPr/>
              <a:lstStyle/>
              <a:p>
                <a:r>
                  <a:rPr lang="en-US">
                    <a:noFill/>
                  </a:rPr>
                  <a:t> </a:t>
                </a:r>
              </a:p>
            </p:txBody>
          </p:sp>
        </mc:Fallback>
      </mc:AlternateContent>
    </p:spTree>
    <p:extLst>
      <p:ext uri="{BB962C8B-B14F-4D97-AF65-F5344CB8AC3E}">
        <p14:creationId xmlns:p14="http://schemas.microsoft.com/office/powerpoint/2010/main" val="80639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A33ED-AFF5-7C79-A134-956C01DEDC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647F6E-4E0C-5450-70C8-A683869C9789}"/>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5EE2F742-1131-6F0B-93C2-E1FF34D2E7E9}"/>
              </a:ext>
            </a:extLst>
          </p:cNvPr>
          <p:cNvSpPr>
            <a:spLocks noGrp="1"/>
          </p:cNvSpPr>
          <p:nvPr>
            <p:ph idx="1"/>
          </p:nvPr>
        </p:nvSpPr>
        <p:spPr>
          <a:xfrm>
            <a:off x="838200" y="1837127"/>
            <a:ext cx="10515600" cy="4351338"/>
          </a:xfrm>
        </p:spPr>
        <p:txBody>
          <a:bodyPr>
            <a:normAutofit/>
          </a:bodyPr>
          <a:lstStyle/>
          <a:p>
            <a:r>
              <a:rPr lang="en-US" dirty="0">
                <a:latin typeface="Arial (Body)"/>
              </a:rPr>
              <a:t>Calculate Kernel Matrix on the dataset</a:t>
            </a:r>
            <a:endParaRPr lang="vi-VN" dirty="0">
              <a:latin typeface="Arial (Body)"/>
            </a:endParaRPr>
          </a:p>
          <a:p>
            <a:pPr lvl="1"/>
            <a:r>
              <a:rPr lang="vi-VN" dirty="0">
                <a:latin typeface="Arial (Body)"/>
              </a:rPr>
              <a:t>Applying kernel (rbf Kernel) on the input </a:t>
            </a:r>
            <a:r>
              <a:rPr lang="en-US" dirty="0">
                <a:latin typeface="Arial (Body)"/>
              </a:rPr>
              <a:t>dataset</a:t>
            </a:r>
            <a:r>
              <a:rPr lang="vi-VN" dirty="0">
                <a:latin typeface="Arial (Body)"/>
              </a:rPr>
              <a:t> to get the Kernel matrix (</a:t>
            </a:r>
            <a:r>
              <a:rPr lang="vi-VN" dirty="0">
                <a:solidFill>
                  <a:srgbClr val="FF0000"/>
                </a:solidFill>
                <a:latin typeface="Arial (Body)"/>
              </a:rPr>
              <a:t>K</a:t>
            </a:r>
            <a:r>
              <a:rPr lang="vi-VN" dirty="0">
                <a:latin typeface="Arial (Body)"/>
              </a:rPr>
              <a:t>) </a:t>
            </a:r>
            <a:r>
              <a:rPr lang="vi-VN" b="1" dirty="0">
                <a:latin typeface="Arial (Body)"/>
              </a:rPr>
              <a:t>which show </a:t>
            </a:r>
            <a:r>
              <a:rPr lang="en-US" b="1" dirty="0">
                <a:latin typeface="Arial (Body)"/>
              </a:rPr>
              <a:t>the similarity between each data point in the dataset</a:t>
            </a:r>
            <a:r>
              <a:rPr lang="vi-VN" dirty="0">
                <a:latin typeface="Arial (Body)"/>
              </a:rPr>
              <a:t>.</a:t>
            </a:r>
          </a:p>
          <a:p>
            <a:r>
              <a:rPr lang="vi-VN" dirty="0">
                <a:latin typeface="Arial (Body)"/>
              </a:rPr>
              <a:t>Creating a weighted matrix (</a:t>
            </a:r>
            <a:r>
              <a:rPr lang="vi-VN" dirty="0">
                <a:solidFill>
                  <a:srgbClr val="FF0000"/>
                </a:solidFill>
                <a:latin typeface="Arial (Body)"/>
              </a:rPr>
              <a:t>W</a:t>
            </a:r>
            <a:r>
              <a:rPr lang="vi-VN" dirty="0">
                <a:latin typeface="Arial (Body)"/>
              </a:rPr>
              <a:t>) with a weigted function from previous (</a:t>
            </a:r>
            <a:r>
              <a:rPr lang="vi-VN" dirty="0">
                <a:solidFill>
                  <a:srgbClr val="FF0000"/>
                </a:solidFill>
                <a:latin typeface="Arial (Body)"/>
              </a:rPr>
              <a:t>w</a:t>
            </a:r>
            <a:r>
              <a:rPr lang="vi-VN" dirty="0">
                <a:latin typeface="Arial (Body)"/>
              </a:rPr>
              <a:t>) to make a sliding window.</a:t>
            </a:r>
          </a:p>
        </p:txBody>
      </p:sp>
      <p:graphicFrame>
        <p:nvGraphicFramePr>
          <p:cNvPr id="4" name="Table 3">
            <a:extLst>
              <a:ext uri="{FF2B5EF4-FFF2-40B4-BE49-F238E27FC236}">
                <a16:creationId xmlns:a16="http://schemas.microsoft.com/office/drawing/2014/main" id="{CA1871FB-CA03-7D56-A03E-91D7BA85568F}"/>
              </a:ext>
            </a:extLst>
          </p:cNvPr>
          <p:cNvGraphicFramePr>
            <a:graphicFrameLocks noGrp="1"/>
          </p:cNvGraphicFramePr>
          <p:nvPr>
            <p:extLst>
              <p:ext uri="{D42A27DB-BD31-4B8C-83A1-F6EECF244321}">
                <p14:modId xmlns:p14="http://schemas.microsoft.com/office/powerpoint/2010/main" val="864631949"/>
              </p:ext>
            </p:extLst>
          </p:nvPr>
        </p:nvGraphicFramePr>
        <p:xfrm>
          <a:off x="3065253" y="4244196"/>
          <a:ext cx="5975226" cy="1828800"/>
        </p:xfrm>
        <a:graphic>
          <a:graphicData uri="http://schemas.openxmlformats.org/drawingml/2006/table">
            <a:tbl>
              <a:tblPr/>
              <a:tblGrid>
                <a:gridCol w="663914">
                  <a:extLst>
                    <a:ext uri="{9D8B030D-6E8A-4147-A177-3AD203B41FA5}">
                      <a16:colId xmlns:a16="http://schemas.microsoft.com/office/drawing/2014/main" val="1232532876"/>
                    </a:ext>
                  </a:extLst>
                </a:gridCol>
                <a:gridCol w="663914">
                  <a:extLst>
                    <a:ext uri="{9D8B030D-6E8A-4147-A177-3AD203B41FA5}">
                      <a16:colId xmlns:a16="http://schemas.microsoft.com/office/drawing/2014/main" val="4118493296"/>
                    </a:ext>
                  </a:extLst>
                </a:gridCol>
                <a:gridCol w="663914">
                  <a:extLst>
                    <a:ext uri="{9D8B030D-6E8A-4147-A177-3AD203B41FA5}">
                      <a16:colId xmlns:a16="http://schemas.microsoft.com/office/drawing/2014/main" val="4138348747"/>
                    </a:ext>
                  </a:extLst>
                </a:gridCol>
                <a:gridCol w="663914">
                  <a:extLst>
                    <a:ext uri="{9D8B030D-6E8A-4147-A177-3AD203B41FA5}">
                      <a16:colId xmlns:a16="http://schemas.microsoft.com/office/drawing/2014/main" val="3156083090"/>
                    </a:ext>
                  </a:extLst>
                </a:gridCol>
                <a:gridCol w="663914">
                  <a:extLst>
                    <a:ext uri="{9D8B030D-6E8A-4147-A177-3AD203B41FA5}">
                      <a16:colId xmlns:a16="http://schemas.microsoft.com/office/drawing/2014/main" val="3123566418"/>
                    </a:ext>
                  </a:extLst>
                </a:gridCol>
                <a:gridCol w="663914">
                  <a:extLst>
                    <a:ext uri="{9D8B030D-6E8A-4147-A177-3AD203B41FA5}">
                      <a16:colId xmlns:a16="http://schemas.microsoft.com/office/drawing/2014/main" val="1934874019"/>
                    </a:ext>
                  </a:extLst>
                </a:gridCol>
                <a:gridCol w="663914">
                  <a:extLst>
                    <a:ext uri="{9D8B030D-6E8A-4147-A177-3AD203B41FA5}">
                      <a16:colId xmlns:a16="http://schemas.microsoft.com/office/drawing/2014/main" val="2595983341"/>
                    </a:ext>
                  </a:extLst>
                </a:gridCol>
                <a:gridCol w="663914">
                  <a:extLst>
                    <a:ext uri="{9D8B030D-6E8A-4147-A177-3AD203B41FA5}">
                      <a16:colId xmlns:a16="http://schemas.microsoft.com/office/drawing/2014/main" val="2313557465"/>
                    </a:ext>
                  </a:extLst>
                </a:gridCol>
                <a:gridCol w="663914">
                  <a:extLst>
                    <a:ext uri="{9D8B030D-6E8A-4147-A177-3AD203B41FA5}">
                      <a16:colId xmlns:a16="http://schemas.microsoft.com/office/drawing/2014/main" val="4185144040"/>
                    </a:ext>
                  </a:extLst>
                </a:gridCol>
              </a:tblGrid>
              <a:tr h="350808">
                <a:tc>
                  <a:txBody>
                    <a:bodyPr/>
                    <a:lstStyle/>
                    <a:p>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85863667"/>
                  </a:ext>
                </a:extLst>
              </a:tr>
              <a:tr h="350808">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5569743"/>
                  </a:ext>
                </a:extLst>
              </a:tr>
              <a:tr h="350808">
                <a:tc>
                  <a:txBody>
                    <a:bodyPr/>
                    <a:lstStyle/>
                    <a:p>
                      <a:r>
                        <a:rPr lang="en-US"/>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4253380"/>
                  </a:ext>
                </a:extLst>
              </a:tr>
              <a:tr h="350808">
                <a:tc>
                  <a:txBody>
                    <a:bodyPr/>
                    <a:lstStyle/>
                    <a:p>
                      <a:r>
                        <a:rPr lang="en-US"/>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778207380"/>
                  </a:ext>
                </a:extLst>
              </a:tr>
              <a:tr h="350808">
                <a:tc>
                  <a:txBody>
                    <a:bodyPr/>
                    <a:lstStyle/>
                    <a:p>
                      <a:r>
                        <a:rPr lang="en-US"/>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r>
                        <a:rPr lang="en-US"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531803"/>
                  </a:ext>
                </a:extLst>
              </a:tr>
            </a:tbl>
          </a:graphicData>
        </a:graphic>
      </p:graphicFrame>
    </p:spTree>
    <p:extLst>
      <p:ext uri="{BB962C8B-B14F-4D97-AF65-F5344CB8AC3E}">
        <p14:creationId xmlns:p14="http://schemas.microsoft.com/office/powerpoint/2010/main" val="2148615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D5DA-39A7-5A62-F7DD-D0BF3B97E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C34CEF-5DDF-EF9A-82FF-951C5E515970}"/>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FED6C960-673F-E90B-99AD-92BB351A8A9E}"/>
              </a:ext>
            </a:extLst>
          </p:cNvPr>
          <p:cNvSpPr>
            <a:spLocks noGrp="1"/>
          </p:cNvSpPr>
          <p:nvPr>
            <p:ph idx="1"/>
          </p:nvPr>
        </p:nvSpPr>
        <p:spPr>
          <a:xfrm>
            <a:off x="838200" y="1837127"/>
            <a:ext cx="10515600" cy="3081382"/>
          </a:xfrm>
        </p:spPr>
        <p:txBody>
          <a:bodyPr>
            <a:normAutofit/>
          </a:bodyPr>
          <a:lstStyle/>
          <a:p>
            <a:r>
              <a:rPr lang="en-US" dirty="0">
                <a:latin typeface="Arial (Body)"/>
              </a:rPr>
              <a:t>Calculating local statistics</a:t>
            </a:r>
          </a:p>
          <a:p>
            <a:pPr lvl="1"/>
            <a:r>
              <a:rPr lang="en-US" b="1" dirty="0">
                <a:latin typeface="Arial (Body)"/>
              </a:rPr>
              <a:t>Multiplies</a:t>
            </a:r>
            <a:r>
              <a:rPr lang="en-US" dirty="0">
                <a:latin typeface="Arial (Body)"/>
              </a:rPr>
              <a:t> the sliding window </a:t>
            </a:r>
            <a:r>
              <a:rPr lang="en-US" b="1" dirty="0">
                <a:solidFill>
                  <a:srgbClr val="FF0000"/>
                </a:solidFill>
                <a:latin typeface="Arial (Body)"/>
              </a:rPr>
              <a:t>matrix (W)</a:t>
            </a:r>
            <a:r>
              <a:rPr lang="en-US" dirty="0">
                <a:latin typeface="Arial (Body)"/>
              </a:rPr>
              <a:t> with the </a:t>
            </a:r>
            <a:r>
              <a:rPr lang="en-US" b="1" dirty="0">
                <a:solidFill>
                  <a:srgbClr val="FF0000"/>
                </a:solidFill>
                <a:latin typeface="Arial (Body)"/>
              </a:rPr>
              <a:t>kernel matrix (K)</a:t>
            </a:r>
          </a:p>
          <a:p>
            <a:pPr lvl="1"/>
            <a:r>
              <a:rPr lang="en-US" dirty="0">
                <a:latin typeface="Arial (Body)"/>
              </a:rPr>
              <a:t>For each window position, this </a:t>
            </a:r>
            <a:r>
              <a:rPr lang="en-US" b="1" dirty="0">
                <a:latin typeface="Arial (Body)"/>
              </a:rPr>
              <a:t>weights the kernel similarities between points</a:t>
            </a:r>
            <a:r>
              <a:rPr lang="en-US" dirty="0">
                <a:latin typeface="Arial (Body)"/>
              </a:rPr>
              <a:t>.</a:t>
            </a:r>
          </a:p>
          <a:p>
            <a:pPr lvl="1"/>
            <a:r>
              <a:rPr lang="en-US" dirty="0">
                <a:latin typeface="Arial (Body)"/>
              </a:rPr>
              <a:t>Computes element-wise multiplication followed by summation along </a:t>
            </a:r>
            <a:r>
              <a:rPr lang="vi-VN" dirty="0">
                <a:latin typeface="Arial (Body)"/>
              </a:rPr>
              <a:t>rows.</a:t>
            </a:r>
          </a:p>
          <a:p>
            <a:pPr marL="0" indent="0" algn="ctr">
              <a:buNone/>
            </a:pPr>
            <a:r>
              <a:rPr lang="vi-VN" dirty="0"/>
              <a:t>Stat[i] = (W </a:t>
            </a:r>
            <a:r>
              <a:rPr lang="vi-VN" dirty="0">
                <a:latin typeface="Arial (Body)"/>
              </a:rPr>
              <a:t>K)</a:t>
            </a:r>
            <a:r>
              <a:rPr lang="vi-VN" dirty="0"/>
              <a:t> W</a:t>
            </a:r>
            <a:r>
              <a:rPr lang="en-US" dirty="0">
                <a:latin typeface="Arial (Body)"/>
              </a:rPr>
              <a:t>ᵀ</a:t>
            </a:r>
            <a:endParaRPr lang="vi-VN" dirty="0">
              <a:latin typeface="Arial (Body)"/>
            </a:endParaRPr>
          </a:p>
        </p:txBody>
      </p:sp>
    </p:spTree>
    <p:extLst>
      <p:ext uri="{BB962C8B-B14F-4D97-AF65-F5344CB8AC3E}">
        <p14:creationId xmlns:p14="http://schemas.microsoft.com/office/powerpoint/2010/main" val="4040895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33DE09-92C6-0A57-1C9F-B386A9CE79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D22E2-67E0-01E4-FBCF-C85246116D20}"/>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F70454AF-6500-7789-5EC1-394CD028CCCE}"/>
              </a:ext>
            </a:extLst>
          </p:cNvPr>
          <p:cNvSpPr>
            <a:spLocks noGrp="1"/>
          </p:cNvSpPr>
          <p:nvPr>
            <p:ph idx="1"/>
          </p:nvPr>
        </p:nvSpPr>
        <p:spPr>
          <a:xfrm>
            <a:off x="838200" y="1837127"/>
            <a:ext cx="10515600" cy="4351338"/>
          </a:xfrm>
        </p:spPr>
        <p:txBody>
          <a:bodyPr>
            <a:normAutofit/>
          </a:bodyPr>
          <a:lstStyle/>
          <a:p>
            <a:r>
              <a:rPr lang="en-US" dirty="0">
                <a:latin typeface="Arial (Body)"/>
              </a:rPr>
              <a:t>Statistical meaning:</a:t>
            </a:r>
          </a:p>
          <a:p>
            <a:pPr lvl="1"/>
            <a:r>
              <a:rPr lang="en-US" dirty="0">
                <a:latin typeface="Arial (Body)"/>
              </a:rPr>
              <a:t>This operation computes a </a:t>
            </a:r>
            <a:r>
              <a:rPr lang="en-US" b="1" dirty="0">
                <a:latin typeface="Arial (Body)"/>
              </a:rPr>
              <a:t>quadratic form </a:t>
            </a:r>
            <a:r>
              <a:rPr lang="en-US" dirty="0">
                <a:latin typeface="Arial (Body)"/>
              </a:rPr>
              <a:t>that represents the </a:t>
            </a:r>
            <a:r>
              <a:rPr lang="en-US" b="1" dirty="0">
                <a:latin typeface="Arial (Body)"/>
              </a:rPr>
              <a:t>MMD (Maximum Mean Discrepancy)</a:t>
            </a:r>
            <a:r>
              <a:rPr lang="en-US" dirty="0">
                <a:latin typeface="Arial (Body)"/>
              </a:rPr>
              <a:t> statistic:</a:t>
            </a:r>
          </a:p>
          <a:p>
            <a:pPr lvl="1"/>
            <a:r>
              <a:rPr lang="en-US" dirty="0">
                <a:latin typeface="Arial (Body)"/>
              </a:rPr>
              <a:t>In matrix notation, it calculates </a:t>
            </a:r>
            <a:r>
              <a:rPr lang="en-US" dirty="0" err="1">
                <a:latin typeface="Arial (Body)"/>
              </a:rPr>
              <a:t>wᵀKw</a:t>
            </a:r>
            <a:r>
              <a:rPr lang="en-US" dirty="0">
                <a:latin typeface="Arial (Body)"/>
              </a:rPr>
              <a:t> for each window position, where:</a:t>
            </a:r>
          </a:p>
          <a:p>
            <a:pPr lvl="2"/>
            <a:r>
              <a:rPr lang="en-US" dirty="0">
                <a:latin typeface="Arial (Body)"/>
              </a:rPr>
              <a:t>w is a row of the W matrix (the weights for that window)</a:t>
            </a:r>
          </a:p>
          <a:p>
            <a:pPr lvl="2"/>
            <a:r>
              <a:rPr lang="en-US" dirty="0">
                <a:latin typeface="Arial (Body)"/>
              </a:rPr>
              <a:t>K is the kernel matrix (similarity between all data points)</a:t>
            </a:r>
          </a:p>
        </p:txBody>
      </p:sp>
    </p:spTree>
    <p:extLst>
      <p:ext uri="{BB962C8B-B14F-4D97-AF65-F5344CB8AC3E}">
        <p14:creationId xmlns:p14="http://schemas.microsoft.com/office/powerpoint/2010/main" val="20828564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6D48EC-F468-C21B-998B-869089929B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6AF4C5-417E-4B21-35D4-E7A8F08BA7D4}"/>
              </a:ext>
            </a:extLst>
          </p:cNvPr>
          <p:cNvSpPr>
            <a:spLocks noGrp="1"/>
          </p:cNvSpPr>
          <p:nvPr>
            <p:ph type="title"/>
          </p:nvPr>
        </p:nvSpPr>
        <p:spPr/>
        <p:txBody>
          <a:bodyPr/>
          <a:lstStyle/>
          <a:p>
            <a:r>
              <a:rPr lang="en-US"/>
              <a:t>ShapeDD</a:t>
            </a:r>
            <a:endParaRPr lang="en-US" dirty="0"/>
          </a:p>
        </p:txBody>
      </p:sp>
      <p:sp>
        <p:nvSpPr>
          <p:cNvPr id="3" name="Content Placeholder 2">
            <a:extLst>
              <a:ext uri="{FF2B5EF4-FFF2-40B4-BE49-F238E27FC236}">
                <a16:creationId xmlns:a16="http://schemas.microsoft.com/office/drawing/2014/main" id="{87DC171E-62A0-AC1E-7EB0-FC764C4256F7}"/>
              </a:ext>
            </a:extLst>
          </p:cNvPr>
          <p:cNvSpPr>
            <a:spLocks noGrp="1"/>
          </p:cNvSpPr>
          <p:nvPr>
            <p:ph idx="1"/>
          </p:nvPr>
        </p:nvSpPr>
        <p:spPr>
          <a:xfrm>
            <a:off x="838200" y="1837127"/>
            <a:ext cx="10515600" cy="4351338"/>
          </a:xfrm>
        </p:spPr>
        <p:txBody>
          <a:bodyPr>
            <a:normAutofit/>
          </a:bodyPr>
          <a:lstStyle/>
          <a:p>
            <a:r>
              <a:rPr lang="en-US" dirty="0">
                <a:latin typeface="Arial (Body)"/>
              </a:rPr>
              <a:t>Statistical meaning:</a:t>
            </a:r>
          </a:p>
          <a:p>
            <a:pPr lvl="1"/>
            <a:r>
              <a:rPr lang="en-US" dirty="0">
                <a:latin typeface="Arial (Body)"/>
              </a:rPr>
              <a:t>Since the weights sum to zero and are +1/l1 for the first half and -1/l1 for the second half:</a:t>
            </a:r>
          </a:p>
          <a:p>
            <a:pPr lvl="2"/>
            <a:r>
              <a:rPr lang="en-US" dirty="0">
                <a:latin typeface="Arial (Body)"/>
              </a:rPr>
              <a:t>Positive values in the kernel between similar points in the same half contribute positively</a:t>
            </a:r>
          </a:p>
          <a:p>
            <a:pPr lvl="2"/>
            <a:r>
              <a:rPr lang="en-US" dirty="0">
                <a:latin typeface="Arial (Body)"/>
              </a:rPr>
              <a:t>Positive values in the kernel between points in different halves contribute negatively</a:t>
            </a:r>
          </a:p>
          <a:p>
            <a:pPr lvl="1"/>
            <a:r>
              <a:rPr lang="en-US" dirty="0">
                <a:latin typeface="Arial (Body)"/>
              </a:rPr>
              <a:t>This effectively measures how much more similar points are within each half compared to across </a:t>
            </a:r>
            <a:r>
              <a:rPr lang="vi-VN" dirty="0">
                <a:latin typeface="Arial (Body)"/>
              </a:rPr>
              <a:t>halves.</a:t>
            </a:r>
            <a:endParaRPr lang="en-US" dirty="0">
              <a:latin typeface="Arial (Body)"/>
            </a:endParaRPr>
          </a:p>
        </p:txBody>
      </p:sp>
      <p:pic>
        <p:nvPicPr>
          <p:cNvPr id="5" name="Picture 4">
            <a:extLst>
              <a:ext uri="{FF2B5EF4-FFF2-40B4-BE49-F238E27FC236}">
                <a16:creationId xmlns:a16="http://schemas.microsoft.com/office/drawing/2014/main" id="{8DCB344C-F77B-7C3D-2256-644AF0A7E504}"/>
              </a:ext>
            </a:extLst>
          </p:cNvPr>
          <p:cNvPicPr>
            <a:picLocks noChangeAspect="1"/>
          </p:cNvPicPr>
          <p:nvPr/>
        </p:nvPicPr>
        <p:blipFill>
          <a:blip r:embed="rId3"/>
          <a:stretch>
            <a:fillRect/>
          </a:stretch>
        </p:blipFill>
        <p:spPr>
          <a:xfrm>
            <a:off x="2552205" y="4992334"/>
            <a:ext cx="7087589" cy="1705213"/>
          </a:xfrm>
          <a:prstGeom prst="rect">
            <a:avLst/>
          </a:prstGeom>
        </p:spPr>
      </p:pic>
    </p:spTree>
    <p:extLst>
      <p:ext uri="{BB962C8B-B14F-4D97-AF65-F5344CB8AC3E}">
        <p14:creationId xmlns:p14="http://schemas.microsoft.com/office/powerpoint/2010/main" val="2743483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307D2E9-6FD4-F81A-63AB-03BDD1BB3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59C73F-F3EC-0CF0-2EA8-3929D9E98F50}"/>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C99F27ED-DCCE-CB65-86F3-2DD2D83776D0}"/>
              </a:ext>
            </a:extLst>
          </p:cNvPr>
          <p:cNvSpPr>
            <a:spLocks noGrp="1"/>
          </p:cNvSpPr>
          <p:nvPr>
            <p:ph idx="1"/>
          </p:nvPr>
        </p:nvSpPr>
        <p:spPr>
          <a:xfrm>
            <a:off x="838200" y="1837127"/>
            <a:ext cx="10515600" cy="4351338"/>
          </a:xfrm>
        </p:spPr>
        <p:txBody>
          <a:bodyPr>
            <a:normAutofit/>
          </a:bodyPr>
          <a:lstStyle/>
          <a:p>
            <a:r>
              <a:rPr lang="en-US" dirty="0">
                <a:latin typeface="Arial (Body)"/>
              </a:rPr>
              <a:t>Calculating local statistics</a:t>
            </a:r>
          </a:p>
          <a:p>
            <a:pPr lvl="1"/>
            <a:r>
              <a:rPr lang="en-US" dirty="0">
                <a:latin typeface="Arial (Body)"/>
              </a:rPr>
              <a:t>Example for window position 0:</a:t>
            </a:r>
          </a:p>
          <a:p>
            <a:pPr lvl="1"/>
            <a:r>
              <a:rPr lang="en-US" dirty="0">
                <a:latin typeface="Arial (Body)"/>
              </a:rPr>
              <a:t>stat[0] = weighted sum of kernel similarities, with positive weights for the first 3 points and negative weights for the next 3 points</a:t>
            </a:r>
          </a:p>
          <a:p>
            <a:pPr lvl="1"/>
            <a:r>
              <a:rPr lang="en-US" dirty="0">
                <a:latin typeface="Arial (Body)"/>
              </a:rPr>
              <a:t>High positive values indicate the first half and second half of the window have different distributions</a:t>
            </a:r>
          </a:p>
        </p:txBody>
      </p:sp>
    </p:spTree>
    <p:extLst>
      <p:ext uri="{BB962C8B-B14F-4D97-AF65-F5344CB8AC3E}">
        <p14:creationId xmlns:p14="http://schemas.microsoft.com/office/powerpoint/2010/main" val="3554340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F35AE-8814-8B8E-11ED-A2C249C8B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42BCB8-6931-4B92-3058-E2988EA492CB}"/>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1B83E5EB-8BB2-06EE-3A05-4F8534F150D5}"/>
              </a:ext>
            </a:extLst>
          </p:cNvPr>
          <p:cNvSpPr>
            <a:spLocks noGrp="1"/>
          </p:cNvSpPr>
          <p:nvPr>
            <p:ph idx="1"/>
          </p:nvPr>
        </p:nvSpPr>
        <p:spPr>
          <a:xfrm>
            <a:off x="838200" y="1837127"/>
            <a:ext cx="10515600" cy="4351338"/>
          </a:xfrm>
        </p:spPr>
        <p:txBody>
          <a:bodyPr>
            <a:normAutofit/>
          </a:bodyPr>
          <a:lstStyle/>
          <a:p>
            <a:pPr>
              <a:spcBef>
                <a:spcPts val="150"/>
              </a:spcBef>
              <a:spcAft>
                <a:spcPts val="150"/>
              </a:spcAft>
              <a:buFont typeface="Arial" panose="020B0604020202020204" pitchFamily="34" charset="0"/>
              <a:buChar char="•"/>
            </a:pPr>
            <a:r>
              <a:rPr lang="en-US" dirty="0">
                <a:latin typeface="Arial (Body)"/>
              </a:rPr>
              <a:t>This convolves the statistics with the same weight vector:</a:t>
            </a:r>
          </a:p>
          <a:p>
            <a:pPr lvl="1">
              <a:spcBef>
                <a:spcPts val="150"/>
              </a:spcBef>
              <a:spcAft>
                <a:spcPts val="150"/>
              </a:spcAft>
            </a:pPr>
            <a:r>
              <a:rPr lang="en-US" dirty="0">
                <a:effectLst/>
                <a:latin typeface="Arial (Body)"/>
              </a:rPr>
              <a:t>The convolution further enhances change points by applying the same weighting pattern</a:t>
            </a:r>
          </a:p>
          <a:p>
            <a:pPr lvl="1">
              <a:spcBef>
                <a:spcPts val="150"/>
              </a:spcBef>
              <a:spcAft>
                <a:spcPts val="150"/>
              </a:spcAft>
            </a:pPr>
            <a:r>
              <a:rPr lang="en-US" dirty="0">
                <a:effectLst/>
                <a:latin typeface="Arial (Body)"/>
              </a:rPr>
              <a:t>Length of shape = (n-2</a:t>
            </a:r>
            <a:r>
              <a:rPr lang="en-US" i="1" dirty="0">
                <a:effectLst/>
                <a:latin typeface="Arial (Body)"/>
              </a:rPr>
              <a:t>l1) + (2</a:t>
            </a:r>
            <a:r>
              <a:rPr lang="en-US" dirty="0">
                <a:effectLst/>
                <a:latin typeface="Arial (Body)"/>
              </a:rPr>
              <a:t>l1-1) = n-1</a:t>
            </a:r>
          </a:p>
          <a:p>
            <a:pPr lvl="1">
              <a:spcBef>
                <a:spcPts val="150"/>
              </a:spcBef>
              <a:spcAft>
                <a:spcPts val="150"/>
              </a:spcAft>
            </a:pPr>
            <a:r>
              <a:rPr lang="en-US" dirty="0">
                <a:effectLst/>
                <a:latin typeface="Arial (Body)"/>
              </a:rPr>
              <a:t>It smooths the signal while preserving the significant peaks</a:t>
            </a:r>
          </a:p>
          <a:p>
            <a:pPr lvl="1">
              <a:spcBef>
                <a:spcPts val="150"/>
              </a:spcBef>
              <a:spcAft>
                <a:spcPts val="150"/>
              </a:spcAft>
            </a:pPr>
            <a:r>
              <a:rPr lang="en-US" dirty="0">
                <a:effectLst/>
                <a:latin typeface="Arial (Body)"/>
              </a:rPr>
              <a:t>Peaks in this signal correspond to potential distribution change points</a:t>
            </a:r>
          </a:p>
        </p:txBody>
      </p:sp>
    </p:spTree>
    <p:extLst>
      <p:ext uri="{BB962C8B-B14F-4D97-AF65-F5344CB8AC3E}">
        <p14:creationId xmlns:p14="http://schemas.microsoft.com/office/powerpoint/2010/main" val="3668717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5189B-E298-A9E6-369F-5269ECCDE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8E4B9-7FC3-1CB1-FCA1-5B03B4DBE3E5}"/>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0DABE62F-F8DA-1B17-2AAC-E48B82D08FEE}"/>
              </a:ext>
            </a:extLst>
          </p:cNvPr>
          <p:cNvSpPr>
            <a:spLocks noGrp="1"/>
          </p:cNvSpPr>
          <p:nvPr>
            <p:ph idx="1"/>
          </p:nvPr>
        </p:nvSpPr>
        <p:spPr>
          <a:xfrm>
            <a:off x="838200" y="1837127"/>
            <a:ext cx="10515600" cy="4351338"/>
          </a:xfrm>
        </p:spPr>
        <p:txBody>
          <a:bodyPr>
            <a:normAutofit/>
          </a:bodyPr>
          <a:lstStyle/>
          <a:p>
            <a:pPr>
              <a:spcBef>
                <a:spcPts val="150"/>
              </a:spcBef>
              <a:spcAft>
                <a:spcPts val="150"/>
              </a:spcAft>
              <a:buFont typeface="Arial" panose="020B0604020202020204" pitchFamily="34" charset="0"/>
              <a:buChar char="•"/>
            </a:pPr>
            <a:r>
              <a:rPr lang="en-US" dirty="0">
                <a:latin typeface="Arial (Body)"/>
              </a:rPr>
              <a:t>This multiplies adjacent values in the shape signal:</a:t>
            </a:r>
          </a:p>
          <a:p>
            <a:pPr lvl="1">
              <a:spcBef>
                <a:spcPts val="150"/>
              </a:spcBef>
              <a:spcAft>
                <a:spcPts val="150"/>
              </a:spcAft>
            </a:pPr>
            <a:r>
              <a:rPr lang="en-US" dirty="0">
                <a:effectLst/>
                <a:latin typeface="Arial (Body)"/>
              </a:rPr>
              <a:t>shape[:-1] = all values except the last one</a:t>
            </a:r>
          </a:p>
          <a:p>
            <a:pPr lvl="1">
              <a:spcBef>
                <a:spcPts val="150"/>
              </a:spcBef>
              <a:spcAft>
                <a:spcPts val="150"/>
              </a:spcAft>
            </a:pPr>
            <a:r>
              <a:rPr lang="en-US" dirty="0">
                <a:effectLst/>
                <a:latin typeface="Arial (Body)"/>
              </a:rPr>
              <a:t>shape[1:] = all values except the first one</a:t>
            </a:r>
          </a:p>
          <a:p>
            <a:pPr lvl="1">
              <a:spcBef>
                <a:spcPts val="150"/>
              </a:spcBef>
              <a:spcAft>
                <a:spcPts val="150"/>
              </a:spcAft>
            </a:pPr>
            <a:r>
              <a:rPr lang="en-US" dirty="0" err="1">
                <a:effectLst/>
                <a:latin typeface="Arial (Body)"/>
              </a:rPr>
              <a:t>shape_prime</a:t>
            </a:r>
            <a:r>
              <a:rPr lang="en-US" dirty="0">
                <a:effectLst/>
                <a:latin typeface="Arial (Body)"/>
              </a:rPr>
              <a:t> = element-wise product of these vectors</a:t>
            </a:r>
          </a:p>
          <a:p>
            <a:pPr>
              <a:spcBef>
                <a:spcPts val="150"/>
              </a:spcBef>
              <a:spcAft>
                <a:spcPts val="150"/>
              </a:spcAft>
              <a:buFont typeface="Arial" panose="020B0604020202020204" pitchFamily="34" charset="0"/>
              <a:buChar char="•"/>
            </a:pPr>
            <a:r>
              <a:rPr lang="en-US" dirty="0">
                <a:effectLst/>
                <a:latin typeface="Arial (Body)"/>
              </a:rPr>
              <a:t>When adjacent values have different signs, their product will be negative</a:t>
            </a:r>
          </a:p>
        </p:txBody>
      </p:sp>
    </p:spTree>
    <p:extLst>
      <p:ext uri="{BB962C8B-B14F-4D97-AF65-F5344CB8AC3E}">
        <p14:creationId xmlns:p14="http://schemas.microsoft.com/office/powerpoint/2010/main" val="6831430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E93B6-448E-EE23-42F2-69770FCDB9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EFCE74-6E48-79B9-7441-E1D00B40EEA0}"/>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003B7287-669E-B886-4B17-BDE2EEB81DF1}"/>
              </a:ext>
            </a:extLst>
          </p:cNvPr>
          <p:cNvSpPr>
            <a:spLocks noGrp="1"/>
          </p:cNvSpPr>
          <p:nvPr>
            <p:ph idx="1"/>
          </p:nvPr>
        </p:nvSpPr>
        <p:spPr>
          <a:xfrm>
            <a:off x="838200" y="1434352"/>
            <a:ext cx="10515600" cy="4867835"/>
          </a:xfrm>
        </p:spPr>
        <p:txBody>
          <a:bodyPr>
            <a:normAutofit lnSpcReduction="10000"/>
          </a:bodyPr>
          <a:lstStyle/>
          <a:p>
            <a:pPr marL="0" indent="0">
              <a:spcBef>
                <a:spcPts val="150"/>
              </a:spcBef>
              <a:spcAft>
                <a:spcPts val="150"/>
              </a:spcAft>
              <a:buNone/>
            </a:pPr>
            <a:r>
              <a:rPr lang="en-US" sz="2400" dirty="0">
                <a:latin typeface="Arial (Body)"/>
              </a:rPr>
              <a:t>Validate the potential </a:t>
            </a:r>
            <a:r>
              <a:rPr lang="en-US" sz="2400">
                <a:latin typeface="Arial (Body)"/>
              </a:rPr>
              <a:t>change point </a:t>
            </a:r>
            <a:r>
              <a:rPr lang="en-US" sz="2400" dirty="0">
                <a:latin typeface="Arial (Body)"/>
              </a:rPr>
              <a:t>using MMD again.</a:t>
            </a:r>
          </a:p>
          <a:p>
            <a:pPr marL="0" indent="0">
              <a:spcBef>
                <a:spcPts val="150"/>
              </a:spcBef>
              <a:spcAft>
                <a:spcPts val="150"/>
              </a:spcAft>
              <a:buNone/>
            </a:pPr>
            <a:r>
              <a:rPr lang="en-US" sz="2400" dirty="0">
                <a:latin typeface="Arial (Body)"/>
              </a:rPr>
              <a:t>For each detected change point:</a:t>
            </a:r>
          </a:p>
          <a:p>
            <a:pPr>
              <a:spcBef>
                <a:spcPts val="150"/>
              </a:spcBef>
              <a:spcAft>
                <a:spcPts val="150"/>
              </a:spcAft>
            </a:pPr>
            <a:r>
              <a:rPr lang="en-US" sz="2400" dirty="0">
                <a:effectLst/>
                <a:latin typeface="Arial (Body)"/>
              </a:rPr>
              <a:t>Process those where shape transitions from positive to negative.</a:t>
            </a:r>
          </a:p>
          <a:p>
            <a:pPr>
              <a:spcBef>
                <a:spcPts val="150"/>
              </a:spcBef>
              <a:spcAft>
                <a:spcPts val="150"/>
              </a:spcAft>
            </a:pPr>
            <a:r>
              <a:rPr lang="en-US" sz="2400" dirty="0">
                <a:effectLst/>
                <a:latin typeface="Arial (Body)"/>
              </a:rPr>
              <a:t>Define a window of size l2 centered at the change point</a:t>
            </a:r>
          </a:p>
          <a:p>
            <a:pPr>
              <a:spcBef>
                <a:spcPts val="150"/>
              </a:spcBef>
              <a:spcAft>
                <a:spcPts val="150"/>
              </a:spcAft>
            </a:pPr>
            <a:r>
              <a:rPr lang="en-US" sz="2400" dirty="0">
                <a:effectLst/>
                <a:latin typeface="Arial (Body)"/>
              </a:rPr>
              <a:t>Call the MMD function to perform a statistical test:</a:t>
            </a:r>
          </a:p>
          <a:p>
            <a:pPr marL="0" indent="0">
              <a:spcBef>
                <a:spcPts val="150"/>
              </a:spcBef>
              <a:spcAft>
                <a:spcPts val="150"/>
              </a:spcAft>
              <a:buNone/>
            </a:pPr>
            <a:r>
              <a:rPr lang="en-US" sz="2400" dirty="0">
                <a:effectLst/>
                <a:latin typeface="Arial (Body)"/>
              </a:rPr>
              <a:t>It compares the distribution of points before and after position.</a:t>
            </a:r>
          </a:p>
          <a:p>
            <a:pPr lvl="1">
              <a:spcBef>
                <a:spcPts val="150"/>
              </a:spcBef>
              <a:spcAft>
                <a:spcPts val="150"/>
              </a:spcAft>
            </a:pPr>
            <a:r>
              <a:rPr lang="en-US" dirty="0">
                <a:latin typeface="Arial (Body)"/>
              </a:rPr>
              <a:t>Create a window around the potential change point.</a:t>
            </a:r>
          </a:p>
          <a:p>
            <a:pPr lvl="1">
              <a:spcBef>
                <a:spcPts val="150"/>
              </a:spcBef>
              <a:spcAft>
                <a:spcPts val="150"/>
              </a:spcAft>
            </a:pPr>
            <a:r>
              <a:rPr lang="en-US" dirty="0">
                <a:effectLst/>
                <a:latin typeface="Arial (Body)"/>
              </a:rPr>
              <a:t>Computes MMD statistics for the actual split and all permutations</a:t>
            </a:r>
          </a:p>
          <a:p>
            <a:pPr lvl="1">
              <a:spcBef>
                <a:spcPts val="150"/>
              </a:spcBef>
              <a:spcAft>
                <a:spcPts val="150"/>
              </a:spcAft>
            </a:pPr>
            <a:r>
              <a:rPr lang="en-US" dirty="0">
                <a:effectLst/>
                <a:latin typeface="Arial (Body)"/>
              </a:rPr>
              <a:t>First value (s[0]): actual MMD statistic and the remaining values: MMD statistics under the null hypothesis (no difference)</a:t>
            </a:r>
          </a:p>
          <a:p>
            <a:pPr lvl="1">
              <a:spcBef>
                <a:spcPts val="150"/>
              </a:spcBef>
              <a:spcAft>
                <a:spcPts val="150"/>
              </a:spcAft>
            </a:pPr>
            <a:r>
              <a:rPr lang="en-US" dirty="0">
                <a:effectLst/>
                <a:latin typeface="Arial (Body)"/>
              </a:rPr>
              <a:t>Counts how many permutation statistics exceed the actual statistic</a:t>
            </a:r>
          </a:p>
          <a:p>
            <a:pPr lvl="1">
              <a:spcBef>
                <a:spcPts val="150"/>
              </a:spcBef>
              <a:spcAft>
                <a:spcPts val="150"/>
              </a:spcAft>
            </a:pPr>
            <a:r>
              <a:rPr lang="en-US" dirty="0">
                <a:effectLst/>
                <a:latin typeface="Arial (Body)"/>
              </a:rPr>
              <a:t>Divides by </a:t>
            </a:r>
            <a:r>
              <a:rPr lang="en-US" dirty="0" err="1">
                <a:effectLst/>
                <a:latin typeface="Arial (Body)"/>
              </a:rPr>
              <a:t>n_perm</a:t>
            </a:r>
            <a:r>
              <a:rPr lang="en-US" dirty="0">
                <a:effectLst/>
                <a:latin typeface="Arial (Body)"/>
              </a:rPr>
              <a:t> to get the p-value</a:t>
            </a:r>
          </a:p>
          <a:p>
            <a:pPr lvl="1">
              <a:spcBef>
                <a:spcPts val="150"/>
              </a:spcBef>
              <a:spcAft>
                <a:spcPts val="150"/>
              </a:spcAft>
            </a:pPr>
            <a:r>
              <a:rPr lang="en-US" dirty="0">
                <a:effectLst/>
                <a:latin typeface="Arial (Body)"/>
              </a:rPr>
              <a:t>Lower p-values indicate stronger evidence of distribution difference</a:t>
            </a:r>
          </a:p>
        </p:txBody>
      </p:sp>
    </p:spTree>
    <p:extLst>
      <p:ext uri="{BB962C8B-B14F-4D97-AF65-F5344CB8AC3E}">
        <p14:creationId xmlns:p14="http://schemas.microsoft.com/office/powerpoint/2010/main" val="22343766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AED1AB2-F7D0-92AE-62E9-DF6A72910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ECEC5E-CE17-7977-95A1-029FF9B4622E}"/>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D887D8D2-7474-F0F6-3039-A68F8289326C}"/>
              </a:ext>
            </a:extLst>
          </p:cNvPr>
          <p:cNvSpPr>
            <a:spLocks noGrp="1"/>
          </p:cNvSpPr>
          <p:nvPr>
            <p:ph idx="1"/>
          </p:nvPr>
        </p:nvSpPr>
        <p:spPr>
          <a:xfrm>
            <a:off x="838200" y="1837127"/>
            <a:ext cx="10515600" cy="4351338"/>
          </a:xfrm>
        </p:spPr>
        <p:txBody>
          <a:bodyPr>
            <a:normAutofit/>
          </a:bodyPr>
          <a:lstStyle/>
          <a:p>
            <a:r>
              <a:rPr lang="en-US" dirty="0">
                <a:latin typeface="Arial (Body)"/>
              </a:rPr>
              <a:t>Calculating the </a:t>
            </a:r>
            <a:r>
              <a:rPr lang="vi-VN" dirty="0">
                <a:latin typeface="Arial (Body)"/>
              </a:rPr>
              <a:t>e</a:t>
            </a:r>
            <a:r>
              <a:rPr lang="en-US" dirty="0" err="1"/>
              <a:t>lement</a:t>
            </a:r>
            <a:r>
              <a:rPr lang="en-US" dirty="0"/>
              <a:t>-wise multiplication</a:t>
            </a:r>
            <a:r>
              <a:rPr lang="vi-VN" dirty="0"/>
              <a:t> between W and K</a:t>
            </a:r>
            <a:endParaRPr lang="vi-VN" dirty="0">
              <a:latin typeface="Arial (Body)"/>
            </a:endParaRPr>
          </a:p>
        </p:txBody>
      </p:sp>
      <p:pic>
        <p:nvPicPr>
          <p:cNvPr id="8" name="Picture 7">
            <a:extLst>
              <a:ext uri="{FF2B5EF4-FFF2-40B4-BE49-F238E27FC236}">
                <a16:creationId xmlns:a16="http://schemas.microsoft.com/office/drawing/2014/main" id="{96064EC2-BB41-2D29-07A9-85089371C623}"/>
              </a:ext>
            </a:extLst>
          </p:cNvPr>
          <p:cNvPicPr>
            <a:picLocks noChangeAspect="1"/>
          </p:cNvPicPr>
          <p:nvPr/>
        </p:nvPicPr>
        <p:blipFill>
          <a:blip r:embed="rId3"/>
          <a:stretch>
            <a:fillRect/>
          </a:stretch>
        </p:blipFill>
        <p:spPr>
          <a:xfrm>
            <a:off x="1564256" y="2421212"/>
            <a:ext cx="9063487" cy="3183167"/>
          </a:xfrm>
          <a:prstGeom prst="rect">
            <a:avLst/>
          </a:prstGeom>
        </p:spPr>
      </p:pic>
    </p:spTree>
    <p:extLst>
      <p:ext uri="{BB962C8B-B14F-4D97-AF65-F5344CB8AC3E}">
        <p14:creationId xmlns:p14="http://schemas.microsoft.com/office/powerpoint/2010/main" val="30565619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A361D-7EE9-E7E5-92A4-0F82AD125F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752AB1-6900-6CDB-184A-18F23CF94764}"/>
              </a:ext>
            </a:extLst>
          </p:cNvPr>
          <p:cNvSpPr>
            <a:spLocks noGrp="1"/>
          </p:cNvSpPr>
          <p:nvPr>
            <p:ph type="title"/>
          </p:nvPr>
        </p:nvSpPr>
        <p:spPr/>
        <p:txBody>
          <a:bodyPr/>
          <a:lstStyle/>
          <a:p>
            <a:r>
              <a:rPr lang="en-US" dirty="0" err="1"/>
              <a:t>ShapeDD</a:t>
            </a:r>
            <a:endParaRPr lang="en-US" dirty="0"/>
          </a:p>
        </p:txBody>
      </p:sp>
      <p:sp>
        <p:nvSpPr>
          <p:cNvPr id="3" name="Content Placeholder 2">
            <a:extLst>
              <a:ext uri="{FF2B5EF4-FFF2-40B4-BE49-F238E27FC236}">
                <a16:creationId xmlns:a16="http://schemas.microsoft.com/office/drawing/2014/main" id="{5FD64614-3281-9DDE-D2CC-F50F8AB456A2}"/>
              </a:ext>
            </a:extLst>
          </p:cNvPr>
          <p:cNvSpPr>
            <a:spLocks noGrp="1"/>
          </p:cNvSpPr>
          <p:nvPr>
            <p:ph idx="1"/>
          </p:nvPr>
        </p:nvSpPr>
        <p:spPr>
          <a:xfrm>
            <a:off x="838200" y="1837127"/>
            <a:ext cx="10515600" cy="4351338"/>
          </a:xfrm>
        </p:spPr>
        <p:txBody>
          <a:bodyPr>
            <a:normAutofit/>
          </a:bodyPr>
          <a:lstStyle/>
          <a:p>
            <a:r>
              <a:rPr lang="vi-VN" dirty="0">
                <a:latin typeface="Arial (Body)"/>
              </a:rPr>
              <a:t>Kết quả stat là một vector chiều (n-2*l1,).</a:t>
            </a:r>
          </a:p>
          <a:p>
            <a:pPr lvl="1"/>
            <a:r>
              <a:rPr lang="vi-VN" dirty="0">
                <a:latin typeface="Arial (Body)"/>
              </a:rPr>
              <a:t>Stat thu được sẽ được tích chập với w như một bộ lọc, giúp nổi bật sự thay đổi của dữ liệu -&gt; Tạo ra </a:t>
            </a:r>
            <a:r>
              <a:rPr lang="vi-VN" b="1" dirty="0">
                <a:latin typeface="Arial (Body)"/>
              </a:rPr>
              <a:t>shape</a:t>
            </a:r>
            <a:r>
              <a:rPr lang="vi-VN" dirty="0">
                <a:latin typeface="Arial (Body)"/>
              </a:rPr>
              <a:t> value.</a:t>
            </a:r>
          </a:p>
          <a:p>
            <a:pPr lvl="1"/>
            <a:r>
              <a:rPr lang="vi-VN" dirty="0">
                <a:latin typeface="Arial (Body)"/>
              </a:rPr>
              <a:t>Shape_prime </a:t>
            </a:r>
            <a:r>
              <a:rPr lang="en-US" dirty="0">
                <a:latin typeface="Arial (Body)"/>
              </a:rPr>
              <a:t>= shape[1:]*shape[:-1]</a:t>
            </a:r>
            <a:r>
              <a:rPr lang="vi-VN" dirty="0">
                <a:latin typeface="Arial (Body)"/>
              </a:rPr>
              <a:t> -&gt; phát hiện sự thay đổi về dấu của các giá trị -&gt; thể hiện sự thay đổi về sự tương đồng của dữ liệu để từ đó tính toán MMD trên lân cận của dữ liệu lúc đó.</a:t>
            </a:r>
          </a:p>
        </p:txBody>
      </p:sp>
      <p:pic>
        <p:nvPicPr>
          <p:cNvPr id="1026" name="Picture 2" descr="Concept Drift Adaptation Methods under the Deep Learning Framework: A  Literature Review">
            <a:extLst>
              <a:ext uri="{FF2B5EF4-FFF2-40B4-BE49-F238E27FC236}">
                <a16:creationId xmlns:a16="http://schemas.microsoft.com/office/drawing/2014/main" id="{0E9D07F9-D07D-976E-8613-2ED6D58CB9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61925"/>
            <a:ext cx="12192000" cy="6534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3156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1538</TotalTime>
  <Words>1601</Words>
  <Application>Microsoft Office PowerPoint</Application>
  <PresentationFormat>Widescreen</PresentationFormat>
  <Paragraphs>175</Paragraphs>
  <Slides>22</Slides>
  <Notes>10</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Aptos</vt:lpstr>
      <vt:lpstr>Aptos Display</vt:lpstr>
      <vt:lpstr>Arial</vt:lpstr>
      <vt:lpstr>Arial (Body)</vt:lpstr>
      <vt:lpstr>Calibri</vt:lpstr>
      <vt:lpstr>Cambria Math</vt:lpstr>
      <vt:lpstr>Times New Roman</vt:lpstr>
      <vt:lpstr>Office Theme</vt:lpstr>
      <vt:lpstr>PHÁT HIỆN CONCEPT DRIFT SỬ DỤNG SHAPE DRIFT DETECTOR TRONG GIAI ĐOẠN XỬ LÝ DỮ LIỆU</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lpstr>ShapeDD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Duc Le Phuc</dc:creator>
  <cp:lastModifiedBy>Duc Le Phuc</cp:lastModifiedBy>
  <cp:revision>162</cp:revision>
  <dcterms:created xsi:type="dcterms:W3CDTF">2025-03-08T09:59:45Z</dcterms:created>
  <dcterms:modified xsi:type="dcterms:W3CDTF">2025-05-24T19:37:06Z</dcterms:modified>
</cp:coreProperties>
</file>